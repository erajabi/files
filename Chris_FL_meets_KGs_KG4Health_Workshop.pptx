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  <p:sldMasterId id="2147483780" r:id="rId12"/>
  </p:sldMasterIdLst>
  <p:notesMasterIdLst>
    <p:notesMasterId r:id="rId31"/>
  </p:notesMasterIdLst>
  <p:handoutMasterIdLst>
    <p:handoutMasterId r:id="rId32"/>
  </p:handoutMasterIdLst>
  <p:sldIdLst>
    <p:sldId id="256" r:id="rId13"/>
    <p:sldId id="431" r:id="rId14"/>
    <p:sldId id="433" r:id="rId15"/>
    <p:sldId id="434" r:id="rId16"/>
    <p:sldId id="332" r:id="rId17"/>
    <p:sldId id="435" r:id="rId18"/>
    <p:sldId id="436" r:id="rId19"/>
    <p:sldId id="437" r:id="rId20"/>
    <p:sldId id="438" r:id="rId21"/>
    <p:sldId id="439" r:id="rId22"/>
    <p:sldId id="440" r:id="rId23"/>
    <p:sldId id="445" r:id="rId24"/>
    <p:sldId id="441" r:id="rId25"/>
    <p:sldId id="442" r:id="rId26"/>
    <p:sldId id="443" r:id="rId27"/>
    <p:sldId id="444" r:id="rId28"/>
    <p:sldId id="432" r:id="rId29"/>
    <p:sldId id="273" r:id="rId30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75"/>
    <p:restoredTop sz="83376"/>
  </p:normalViewPr>
  <p:slideViewPr>
    <p:cSldViewPr snapToGrid="0">
      <p:cViewPr varScale="1">
        <p:scale>
          <a:sx n="108" d="100"/>
          <a:sy n="108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C54447-787D-730D-A360-6A9EF8F6F25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AD6F-1753-6423-0A62-4CD8374DEBB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F731B-2798-8E2D-44E6-4456AFBA92F6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6F920-792E-30F0-1BA5-3557CAD6985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5339AF57-FCBB-974A-8C5D-806F4FBCB2E6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224296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70F45-8F99-5594-06DB-DE80CF202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3FFBD-D7EC-0D1A-B890-4EDE7985B43C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D2219D3-E52C-6F59-356D-84B337DE7B4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E115E-3C5A-D0B0-336E-52D4CB63E33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C254F-F8EC-A18E-F13D-7D0ADBBF674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B882F-F2FE-64F1-CB1E-02C9298A410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5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4A0C92C-E61E-4143-84AA-0ACA4282D5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686D9-7707-9340-6386-2AA8ADFD87D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FF48A62-E144-FD43-BA83-7EAE9193D0EE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013DE-0821-A4BD-819F-BDBE239F2E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AA045-F8F1-D9E6-B878-7566661264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AA9A-A120-6825-B40A-EF4554DB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33937-FE60-ED33-1AC6-7B7739874D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FBE4E-0C4A-115C-A994-50610D01A0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E4EE9-1304-D99D-F635-9FF9DC66700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57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F729-05E9-E89D-B2FE-62CD5BF6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93F1A-6776-5564-EC17-F885784FA5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35983-DD75-F694-88E6-8C0A9F7D0B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BCE5A-6B18-AEF4-6B78-752BF390DE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02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D823-E046-1524-8A17-0F1004E8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9C4E7-77A2-86D3-9454-2058302D38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35195-B0E8-DFE0-2570-F6EB95B942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40704-F559-FBF3-B408-416D67115F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19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5107-0F31-C8B3-D951-DDDA2D09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801C-F0BB-2EEA-6EAE-4967101AC7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60B3D-8AC5-76C4-6595-33C3E2AF810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81ACB-1D35-7660-E1FD-A721C30CF8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5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8EFB-25FF-F562-6717-1A21781B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8746A-920E-8EE7-7DA6-BFD7EE20D37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7D6F7-01B7-B005-AB7C-A26FF1D5D44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9E28E-406A-844C-9C7B-63F106E1E1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0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C372-4D8D-0D6D-4BE5-AFB8A20B8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4AAA6-7631-CAC5-EE7B-27EBC8A03D2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5A8AA-BD58-F34E-3FA9-42140A4866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563BF-9E36-2DD6-9B15-38CD83DE8D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8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85EF-0CF3-B561-A01F-280678AF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38E98-2E9E-4AA5-B722-DFC7867ADC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5E2EE-A025-BC83-A5FC-B81C02A548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C90CD-6F39-21F0-83AB-E9EAAA9E3B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4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3076-53CE-BEB3-BED9-68709029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AA803-6E5C-CFE9-9897-8C58752E04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5DA82-79BF-D52C-B990-B62F7191DD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0E278-EE08-A3A2-8CC6-E17C06918E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07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C6CC0-AC46-98D5-AB72-B1278D3E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C1D76-4BFB-3EB1-1956-F4D4885B28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B3A80-D55E-EF78-9ACC-0E3320D3BA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11F16-1AF6-828A-6195-27942665CE8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r>
              <a:rPr lang="en-US" dirty="0"/>
              <a:t>Opportunity 1 and 2 were about learning from graph-structured data. This third opportunity is slightly different: here, KGs are not primarily the object of learning, but the semantic coordination layer that makes federated learning across health institutions possible.</a:t>
            </a:r>
          </a:p>
        </p:txBody>
      </p:sp>
    </p:spTree>
    <p:extLst>
      <p:ext uri="{BB962C8B-B14F-4D97-AF65-F5344CB8AC3E}">
        <p14:creationId xmlns:p14="http://schemas.microsoft.com/office/powerpoint/2010/main" val="2567159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5FFF-9BAC-D525-516F-0109FC0A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B678A-4814-C103-7C3F-563A67DB4C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1FDD-E362-0FBD-775D-43E4D87E3B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3C876-04C1-B87B-7ECB-DBF60A8455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r>
              <a:rPr lang="en-US" dirty="0"/>
              <a:t>measures the average blood glucose levels</a:t>
            </a:r>
          </a:p>
        </p:txBody>
      </p:sp>
    </p:spTree>
    <p:extLst>
      <p:ext uri="{BB962C8B-B14F-4D97-AF65-F5344CB8AC3E}">
        <p14:creationId xmlns:p14="http://schemas.microsoft.com/office/powerpoint/2010/main" val="4258015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3D850-1ED3-EFEC-C0E6-E4CD51C6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B4795-7502-1738-9C1E-DAAF57D2F4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09EAB-0999-1C03-AB95-6821324CF9E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0BDAF-394A-C36C-2952-EA462856D9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40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8994-DD10-13BF-8FA9-6B953986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F176A-7A56-0706-0B22-D43F968346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4AD44-3083-0DE9-5E3D-CF3596ADD5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99684-C18F-1E4C-1289-59051A8FE6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16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CEF1-BAA1-B3FE-153E-BD60A112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D85D-B850-ADAC-1363-9ABF280EEA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76A6E-9C48-755E-55AE-56D75E25111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01D74-25BB-5895-9AC3-7D7E68BD19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00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DCD04-C29F-3F7F-B132-477DB42C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47183-40A2-C7FA-AAD1-CD7B5CD00C4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792DC-A2DF-8B22-5750-13F790530AF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92195-AA13-B754-D310-FDDA82FD22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36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B1362-FBDC-E098-1E09-98B7DCC9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DD498-5047-4C7D-8E3D-82F4E1956BE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B5992-7E98-3E8E-B2AD-AA7AEE93F76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19E8D-A518-310D-D0AE-9E1E4A6633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33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D50C-DBFC-D280-B15B-B994705B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21EB3-9599-B6D0-CF86-B97C585092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DDBEA7-E2B5-3348-8F2A-21EBA77DE73B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6018C-5C63-679D-0219-42C66D987F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87CF0-AB0F-69F3-F23C-74745CC3F5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07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DC39A-00A3-7C89-71CB-0DFEB6CEFA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515DCB3-CB6A-1742-A405-F631B29CE462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A6E1B-38ED-1B7A-97F2-7E836C3724F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09F31-C8C6-577D-E2A5-88DEC56128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A34F-0FFC-61AC-2AAF-A7D68CCE6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9F36F-A0E4-2CFF-AA96-CB383701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38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9D0C-53CC-9302-60AF-B833BC75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05EC-B6C6-E1DE-8978-910BDBCD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7426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5D99-E138-5200-E401-CF4E192D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E6E3C-E761-6CB2-C5D1-000E32E72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62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6607B-451A-2449-6D85-EA27983F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73FC-347C-C5A3-59B1-9329746DB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5425" y="1268413"/>
            <a:ext cx="2581275" cy="529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BEF64-B0CB-95C8-4FC3-4952176AA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09100" y="1268413"/>
            <a:ext cx="2582863" cy="529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34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4660-0093-31C8-ECBA-4BA14205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4B3B8-7210-E216-E563-4224F856B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176CC-30C7-27FC-A3F5-FD3FB715E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0EC79-CA17-458C-8EE3-827D7431B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D3D4A-C2F8-D993-1242-955C6B1B6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51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D631-CE13-BEA4-6489-D4E713AD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91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9190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84E2-02BA-0B61-4EC6-E92AAAE0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677B9-0AC6-D350-4E61-FB262D6A4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9D733-F047-88E6-E817-64892488C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722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98E-5386-A5D8-A3DD-11AE37A5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C8683-C850-7F58-28F8-ED947B94F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0C735-FBAE-0700-E3FA-A28BD1CC2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64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0036-E7D1-4FA1-3BAB-65664E17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C212A-806A-5501-8BCF-5B9738F1B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125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E24CB-8ACB-D99F-6556-ADFC97464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4775" y="1268413"/>
            <a:ext cx="2897188" cy="5292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39829-64E7-DFA2-77D5-CBB66193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268413"/>
            <a:ext cx="8542337" cy="5292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1566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35D6-3921-CCCE-E8C4-99EEB01EE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6D9C3-38D2-793D-01AB-F208BC79E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62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D92F-7309-9B13-DA96-54D4837F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1133-DE9A-48E6-675B-F9B2C815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055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BD17-10C8-1608-27C8-B446EF3C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A16D9-E404-9B22-4686-CC12AB6B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6789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1EAE-8F2C-6726-2603-D48DB4A5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541A-699C-2E40-52CC-920990D80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5425" y="1268413"/>
            <a:ext cx="2581275" cy="529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A8F6-344A-B9A9-BDB5-844E0FA71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09100" y="1268413"/>
            <a:ext cx="2582863" cy="529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712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732F-3AFF-8D18-F07C-B26E4784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ABFE7-2647-BF1E-FEDC-A0D3E071D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905DB-B051-A5EC-7358-9F9D8B3DF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38A23-06A2-115E-844A-41B86F635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EEF5F-F69C-3B5F-7617-894FA02EC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7621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B05-500F-0653-CFCE-98F50F774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8274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177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4A50-E00E-0FC5-0BA9-7A97E095E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55CD3-E498-592A-8342-30E873B5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77EC6-1D78-EF1A-45BB-A604AECDF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23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566-66E5-3F09-37A6-B8C4C4FE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B1FE4-B749-FAE5-82CA-DD37DF890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E46A3-165F-1F66-38EA-F315F3576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1965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1B8E-1EFF-4B9E-3D71-84463975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2F79E-A0EC-78E8-842A-CAB7EFB16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214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59538A-2407-1AF8-BCEC-89F73E740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4775" y="1268413"/>
            <a:ext cx="2897188" cy="5292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BBA8C-3502-5124-C74B-F49301686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268413"/>
            <a:ext cx="8542337" cy="5292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66537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E82B-1B57-7994-90FC-EA6C60FA1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9371A-5835-261A-C44C-4C40FCBA4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F82C-49E9-CB01-68F3-39EBFA288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BE50F-CF1A-76B0-3806-D49275970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E21E0-D135-4892-329B-73B76E31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6743A6-7082-2C45-B0D2-271556B490C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6507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5A4F-7468-80C4-33A1-9AF196B9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95D1-9809-7D65-7283-555866AEC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2985B-488B-392D-0032-6D293F167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41A43-3BAE-68BC-1ACB-8223C2AE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95256-6E58-025A-B8EA-A2006A60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2BA3EF-B20B-884F-94A1-85026AA3F26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118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B484-09CC-D91E-983B-DC0321A0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2D94-E0A3-8928-7D7D-B537E7096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A928F-0910-8493-5649-2D91CFFE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46260-190F-5F66-5B07-97D691BC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63B0-6ED8-DB9E-E2C2-4B0D8614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7B1B8A-FEFC-734D-8ABB-C7C8089F473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8276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06DE-54B4-9322-2D28-C23F8425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4C4BF-35D6-C1CB-5423-B5DCA4AB2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2241550"/>
            <a:ext cx="5719762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50BA8-DA0F-CFCA-F95D-CC091A91E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41550"/>
            <a:ext cx="5719763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43039-2CEF-F17A-6C3A-DA965B5D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D0D86-5E77-6F6B-6D9A-1B362C19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768D2-2D71-A5AF-4C3B-AB58099C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A3314E-FD5A-8A4A-B097-2D30014F56B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5455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FA58-EBE5-FA0E-1CCC-DBAEF048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F331B-5036-BA82-B2E2-6EE8A8A89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E78DB-11DF-E5F5-AC42-BB74B5FE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0C2E1-00ED-CF3B-0650-09D374BF9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37C3B-7D1A-CE0B-CEC5-7A33B90A7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F5AD8-B4C0-3CE7-0505-CC019DF9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0F355-85E2-451A-445C-289D47A5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DDED9-6920-2F8F-DDCD-6C710C12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9642B8-22BB-874B-A9A7-B84C68544F2D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2661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B566-68E7-6DA3-719C-0D07B0CD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F042E-35FD-008C-57DD-C9E1A556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0464E-2819-A856-BA43-1FDC3928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6D439-CFCA-6B74-F10F-51E29499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8C6803-45E8-9F4A-8C86-884A6B44B06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5436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2C92E-F763-611C-4EB3-01F565BC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D07DC-37D7-9599-D4DA-1D359D16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7ED29-26C1-977E-D78C-5734563C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457F8E-BA5A-FD4D-BF70-E55CEC3AAEE9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539023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EF6F-B58E-7091-AAC4-074BE799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E10B7-4528-15B0-02C8-514FAEA17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CB8C4-760A-AD2C-9C72-BE7375794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4F0D9-CE8D-EEF2-8ACA-CFF5CBCD3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7DA27-79EA-A020-0E0A-8033585F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17A6D-1559-7626-5A89-546BF7F0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2D5808-8901-6A46-8AF7-8DA0F50A7E81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188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FDB6-CD73-403F-548C-5E4EBF74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ADFF3-EA72-8003-2825-EBBB8F11C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1E6B3-D4F3-B99F-24BA-A643A5E6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B14D9-079C-B650-CD61-510F55C0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17D12-DB2F-E857-A2D8-84CFB295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329C3-1FB9-08E5-085F-D3FBC325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103356-D272-DD4B-8C05-0A6961F830E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55363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A7A4-D110-8D16-E9DC-D610F434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02467-4FAE-57B8-55C6-D70AB436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DB23A-131F-B4C5-B208-1E91E49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041A3-C4EB-85BA-51C1-D2951100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0131E-9551-8D95-C09D-C211173A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C88FB7-4C74-E245-B2B3-74E82541568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72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CA5A3-CCCA-47A0-5BE1-1ACE61EDF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4775" y="1325563"/>
            <a:ext cx="2897188" cy="4911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6FA82-7527-8F45-EBF0-60D58142C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325563"/>
            <a:ext cx="8542337" cy="4911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7C5EC-9C87-E08E-A9E1-CFD1C36C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1CA9-E7B6-6C8C-BC29-F5971507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12FA-8B47-B2A8-2138-73FAB85F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718741-0E05-9848-9BB8-434D66D1D88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9073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A69B-877F-49B2-9E03-276DA7734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3C5EF-A28A-2695-9065-E69D67B71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7ABEB-9F63-DD17-4333-931DE640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9BD09-E66F-D30C-F600-C50C42783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9736D-8D08-BC2F-8F1E-4FE9A9EF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A21386-94E4-0741-94D6-AB5A9405B52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2943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CBF8-BFDE-447B-4637-693644EC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6F114-E42F-355C-1014-49872B0A8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02373-2082-E0C1-B4FA-998AA8D5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5A75C-B298-3A9E-FD92-96452212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62B49-E841-749D-B94E-1ACA95A4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D41995D-8432-444A-B2CA-76347182BE5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37528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3A4B-287B-FADD-6E6F-E9E7FC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78562-6D75-001B-5321-DCEE631D1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1710C-68B4-B42F-C05E-6BAED9A6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246A9-9FAD-29F5-5519-FEB28B2B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09A1-7C3B-DEE1-4DA1-7AC6A1B3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2AAD1E9-C5F2-BE4A-A2B6-3DC4E32049A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76924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BCD8-D4C7-7F13-1740-A8082085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7C39-04FF-CC71-4BCF-6EDE3891B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2241550"/>
            <a:ext cx="2911475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06C60-919A-437C-2311-03148DF3E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63913" y="2241550"/>
            <a:ext cx="2911475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31C0B-2071-74B3-CD7A-7A95F81E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44C5C-86C6-CF91-1D85-BFE5834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83D70-C918-9809-73B9-A67FFE7D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3468793-4E78-B74B-A656-945B80872CE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3073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35CC-9C72-9AA5-E058-41AB0BF8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61F8B-C1A3-362C-EAAB-6361072A5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4B4D5-1B49-9391-FF39-D39A5AEA5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0145A-E27F-8BFA-3EA6-A54C4E9A0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DAD5F-71BC-8E37-B1F4-65854728F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AEA97-AEF2-CB8C-3A48-21732404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F30AB-DB07-0B45-E08E-FC748FB7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B047A5-FCD9-7765-3F7D-E5F30FE8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4DEB15-AC70-B547-9324-33DA9A63B629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4160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4BE3-C74D-D174-49C3-D6917031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C4E39-FCBC-B9B9-AD9E-75CDA6A0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36135-48D3-5554-5CF1-47C83CB4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B0C7D-CBB0-D018-CFC6-07A4016B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C6A134-AD78-6D49-B71D-29E12B5AB64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393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2FFE0-3B05-0EC8-2E93-AAFEDA0C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C68E1-B0C0-F0F5-672A-C0849FD7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32D96-5D94-75DE-57E7-F421DCEA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204B1E-DE8D-5648-800D-5D71C4C21AB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81742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0218-A748-0007-9155-A3A7780F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C7282-D198-C5C5-6B15-4118260D4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AFE0-95FC-AD90-266A-AC2027BB8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CE5E8-8AF1-C8AC-CE72-ADB5ABCC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AE14F-9B42-8D9C-6BD3-5624CA03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DDAF6-52D0-7BE4-3428-FD8A84B0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383260-BEAC-B14A-BA0A-8F3002E733CB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8064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9CE3-CFF8-7325-C805-E7EC7DDE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9498A-D56B-00F4-4AE1-E6E214290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346EB-73BA-13F8-878D-E5343752E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E635A-CEF5-7D5B-18E0-BF80B5D0F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8F0E7-D100-D80A-3F7A-C44D314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B5DED-43BA-8D99-119E-F7D992F4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AD13BF0-765A-DF49-A2DC-0EC56D78231A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0083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FE6E-B54B-D8E4-1D48-1812AF43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8E3B2-13AD-3589-1173-3DD8D7BF3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DAC91-AC34-78BC-5E6F-00831FA0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58D8C-5D79-C9BF-904A-2D7F01BD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5F1D4-4B68-192E-98FD-C1EC2841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9A8513-C258-144D-B879-1A8751160ED2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842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7CC6E-85EB-5AD9-3672-DF4F1BCC7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781550" y="1325563"/>
            <a:ext cx="1493838" cy="4911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2243D-E436-928A-19A6-D72CB7D49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325563"/>
            <a:ext cx="4329112" cy="4911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DC968-545C-CC08-150C-3B8B1EDC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3708C-C507-11D7-3AA1-978AB432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EC526-96B4-081D-F907-9EB38C0C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AE925A-BAC2-3F48-BEDF-177B146CA13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072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32A-D4F9-0151-4B9B-07A2607C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5985A-FBFD-F83A-4C6E-5B9DBDDE0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31BE5-BBAC-A888-1759-CE4A5D5C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2BC06-D5DD-06CD-9567-95F55F63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EABC-C7A9-FF30-244E-E73D4AF2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2A2FAD-AB57-7E4C-B4CC-EB020231DA0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3447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A356-D3B9-97DA-4684-13155BF1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07DC-EDEC-98E5-6637-404A98323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84A16-22C6-BE8A-2CAC-DFA64222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DFD3D-2EAC-8405-41CE-FEEBF59F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F254-A941-695A-9ED0-455C1AF5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EE9F0B-9B60-0047-B991-7F1F93F7449B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7689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4DF5-6E4D-9323-6F8A-9453460B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B5F0E-F4D6-270A-45A1-9B83237FC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FDBE8-B0AD-A332-274E-DC569094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1DE0-ECE9-7FF4-8F7D-A669DACB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5D94-E7E4-501B-D379-3490ECEC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234401-76F5-D046-B179-7C11FCD5F1D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2034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38F7-184C-6DC1-66AD-E17CA1BC4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BA61-CC8B-1123-61C1-BBCCA284B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2241550"/>
            <a:ext cx="1752600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36213-8496-C5B7-6920-8E2F4DD8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5038" y="2241550"/>
            <a:ext cx="1754187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F009-75DA-86B4-EF79-BF047D09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CA73C-D527-AF85-5374-6A28242D9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21824-8C22-EA5D-8269-C3BAC2B7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127EC5-9451-AF47-80F6-9EE994B5452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07642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CE0C-673F-797D-F8B1-F02F5761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86A12-689A-5BC6-46F2-8DE38FE48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AFF69-7C0E-BAC8-0176-812D1DE0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C731B-DA09-0F4E-7169-593AABEAA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3F348-FD85-4C88-A9D4-7A406726F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68FFA-AC62-F7F4-5005-290483AB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205C9-E550-6044-D221-2677A342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08E3C-3969-1CD8-D933-A50FE4EC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21BCCD-BA8F-7F48-86E8-2B35F5183C4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00184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E533-DB50-4A62-AB00-2BD911AB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71242-5B0E-2486-40C3-D042E263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042BB-1CA3-3BD7-8761-954DAF6E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75CB8-99DE-1636-55EB-B3D4EED2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9DC37E-E126-994A-8F0B-C41A52C5343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863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90E47-1629-2780-B819-51EFECD27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0E23F-8A4C-2F78-D4AA-48060923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6F16A-1928-59EF-6112-D5967821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1937CC-8F62-8D4F-AF6C-5B4E518DFEC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2980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253C-7BB8-096B-45A1-C92FCCC95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2ACDF-6024-82F2-1D73-295917C6F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5E54D-BD67-7BFC-FC49-13AA1B6D6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CC7CE-8146-7CFF-8D9E-CEEE9F51E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E5321-F0D4-45B5-4B6C-DB6B662D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B778E-9213-C43C-643E-AB6A561B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1B4E0C-7E0E-7943-836B-61A4D64A219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0763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3042-BD43-9A25-9C25-6EFA96FD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2C05C-9CEF-D18A-3EEE-54B616D7E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1804D-C5A2-54E8-8375-43AE2D3B8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01145-E410-ECD7-1271-037CA129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48604-E477-D791-45B8-03B20606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6F2D0-BD3B-A3D4-988C-8C1C7DA7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C3BBCB-2061-E442-9442-90FB317C12C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3602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AFB6-AEB6-34B1-2BF7-1F6AE6B3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9BB66-A4FD-2F15-6E22-CB4956DF5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39320-AD00-B18C-90E4-6F093D43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C47B1-920E-321A-869F-5C2130DD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C487A-6734-5B2A-3818-BE340308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8D49F9-8B40-0B49-BC4B-177D9DDEFF8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050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E78E8-48E1-49B2-05CB-3D34DE041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044825" y="1325563"/>
            <a:ext cx="914400" cy="4911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DEC87-D49C-874D-BCCD-DD2652C37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325563"/>
            <a:ext cx="2592387" cy="4911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459AC-C8E9-922B-F067-B6E0458B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4D79B-CEC4-936E-C407-C2EAD387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0F3F-6588-49ED-AEB5-B82DDF3E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287CA2-7882-BC47-9AEA-1154C22FB88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934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C8FE-2B17-EC36-0C29-EE36F4FE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904A1-FFC5-A055-59B1-065CAF128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F8D93-62D8-5BE9-2F6E-0CDB7A13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37992-2911-B007-F231-C3C68186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130F0-2BD0-8945-23DB-8D4966AD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A5BC75-C528-E044-8D02-901A8BB2A90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8579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87ED-E5A7-3FD6-7AFA-0F8C12A4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A1E8-A3CA-E1F7-9B6B-05C81F526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91C39-786F-48BA-A8F1-E7C8F8ED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8C4C-5924-6A0D-98A9-611D4C24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07D2C-8772-2828-C2E9-B84C6EEA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BB05F0-BBDF-F048-A0A1-C9BEF650B7A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8542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CBA5-6F55-2BA3-925C-827052E6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1C304-5253-E66B-2757-50B759321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835A7-51DE-77E8-B3DF-24DE9946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ACC94-4C7F-D686-893B-0101066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DBDF6-6E5D-EBAA-553F-79700B0B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A66260C-D0A2-8146-A147-90F1ADDF176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9046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47F3-6CCA-49C2-7A8C-4FD2CD53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5688D-0303-613E-174C-90CD1AAA2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2241550"/>
            <a:ext cx="1501775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0909D-E3C8-7868-1AED-EEF1CDA83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54213" y="2241550"/>
            <a:ext cx="1501775" cy="399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485E7-C32E-8139-F0BF-363A7067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0592C-2A39-3315-29E9-38B1DCB3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98C47-1E5E-F621-0060-DCB4A943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FF1F80-51EE-3242-9DB0-69CC858361B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3920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9546F-D70F-E0B0-F670-AD8301CF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2C2A2-C8AE-3FC3-20DC-BFC94745A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11CD8-5E68-BFF0-DB7F-5EE50CF36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D3F07-6579-9C7B-222E-FFB9529CC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079A6-E084-1BC6-95E7-7D1E99A08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47E2A-7E61-DF01-3987-FA28AC9D7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A024C-BC32-54FD-BCF6-7667E07E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D2DF7-3BAD-0471-4595-35E6BD91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8D5C60-ECB5-4940-845B-BF39E39769A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30020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4A52-E1D0-BA04-191F-A1DA26C8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02002-1DE3-6E1B-CD36-E9875B54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90C9C-9A18-47BD-B41B-F0E963AFB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E14EB-B094-E813-C9BF-9D17E6EE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032389-02C6-9247-964A-A0DCDEF0E3A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85607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0183B-C153-5207-F2EF-85FF904B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24342E-CA63-B7A5-0E73-E170582D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16660-ACC4-B72F-37F7-3ED8CC74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1EE512-9438-3546-9F1C-613CB643191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3550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7405-7A78-4B05-1BF6-FED4F8DF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9DB6D-1779-EAE0-47C1-83F320DB0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5EDBE-C7B8-1B6D-0F1D-CA39C472F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4150C-B87B-3C15-6ECC-13D94E6F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44DBC-199F-9A2D-6402-E6B1EC15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77CE2-7E58-5D1D-8BD2-C9D2765A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A33E66-BDDE-1845-A3AE-2AA978DA23A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4346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0DF3-8D0C-334D-8766-179AA739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86919-36F6-8433-6528-88D8CD0BB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5E1CA-B0E1-6065-1C1A-DCAAB41DE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6541-C45B-D06D-F6DF-6C400C02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9D15E-0635-8B08-BB85-D4A6070B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39D4D-FE6F-98DB-3867-4F6FB571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083B74-054A-3845-893F-BD30757A4E0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14915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25B2-AA29-55D1-7D5A-E17C1C2CA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5FC16-7E54-478C-EDA2-663E17B92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F47F3-1E73-0551-C192-8159A720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40BF9-7B15-8919-89C3-6B0A8961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A6E6B-2243-26A6-003D-3F3B6A3D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824B8A-F33F-A74B-8191-4F2EE458728A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1548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63CC4-FC4F-C5D3-4649-449BE7BF6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667000" y="1325563"/>
            <a:ext cx="788988" cy="4911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D682E-832E-2044-CED2-119D552FA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325563"/>
            <a:ext cx="2214562" cy="4911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5C734-9709-47A0-3909-0F5FDCAA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E260-3605-B9D4-4E44-7A58F168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70D40-206D-C140-E4A8-FFDDF041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7FDCC5-5163-1946-A918-C832815FF119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2922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8A47-666D-6C71-540C-386B20BDB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4C474-89A3-B573-0516-867A19ED4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20B4B-96FF-EBC5-13C4-B95785EC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FFE3D-27F2-8FB5-C92F-1052E753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8734E-F97C-0136-8EE2-1002E310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619685-E317-2C46-A5A6-25BE8F215F1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3252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91B1-6B8E-F808-C20B-73C66DFB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756B-2E45-7A28-3C1D-FFB4CA819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31846-B02E-25B7-C5C0-F3183C41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8868-A1F0-AB76-5A55-36B1F386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AFF0-328B-8FB0-9EB9-61B60E10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BC825A-AB6F-C542-867D-05EC0843076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0753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4B67-07E2-35FA-8C60-FE87F504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7C43E-A32C-5691-96CE-C66542DA1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D19DF-DFB5-5C0E-C568-04BCDF21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A825-80D7-0DF8-593E-C49FAD21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AAC7B-9BC4-27AB-77DF-3F803754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6D8C9F-CE63-BD47-A823-92ABC7C996C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096855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F015-5195-19B2-B9F6-2628CC94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59906-2F5E-F692-A3FE-043CB46CD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268413"/>
            <a:ext cx="361315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4EC03-DCFA-BA77-9729-6D6B830F3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5588" y="1268413"/>
            <a:ext cx="361315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F108F-3CC5-73E3-24FB-597646BE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B643E-B5DA-B4FD-015A-174672CB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0ADD6-3C25-3A8B-C3C7-1FDE9D15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1272D2-EA6D-864E-8F90-F67A8E56531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67632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A82C-7E63-1424-6150-9637E239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A5423-99FD-6FA3-BABB-C839193FF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EE7A7-B088-7564-5615-4D3C490C3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C8446-EB27-7742-B2D4-0CF37B7B6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7EABA-46CC-1012-8919-127C20653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42AB0-2599-7632-0653-04FF7839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EBAEA-F3C6-A110-732A-347A79C2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38BA3-D9CA-3874-A5C4-371AC0F6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E23150-4F67-1B44-90DB-E4EF5F71F362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31092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06F1-4210-5F19-60E3-040BD7A4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99294-563C-F7C2-F529-3FB8F251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8125B-1B4F-D5AA-945D-971627BC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BD3ED-BAAB-970E-01C6-F6BFD44B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4011CEB-86FA-6D46-A1AD-9858DDC9E1F1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5660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BA6FAF-EB2B-EBBB-4E88-1571AB1D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14BCA-BA27-1229-EFB9-6D5A6ABE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FB67D-13E7-310E-D287-50A6D146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9829AB-124F-DA44-A781-F606E3536D8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7772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98B5-600B-7C4C-7CDE-B0294DD3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95290-C732-E22D-E6E3-EB5EC3DE6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20BB8-FA64-265A-0676-16FCDEB70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B8363-8134-BA4E-184B-20038347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C25C-658A-426A-F29F-1628D345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B5096-1348-B3CF-263A-781C725C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22B9CE8-538C-184F-8BFF-7B6C18B00D5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3967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851A-87B9-7E42-E947-7986FD9A6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2458C-8AF2-401B-AE3E-447023EE8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50D15-8CA7-7287-FD7B-48BC3199F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E3B09-12B9-7F52-B7A2-B8E2D76C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6785F-C9D8-E0EC-E123-7A64E8ED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D55FF-3B28-EFCD-9181-2F355DC3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5E3579-4E7D-CA49-B904-646F40927781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77261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B213-4687-B711-B583-960B4479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DA6E8-B587-5148-15AB-1B7F2AA33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2E883-ECF2-1E9F-CB66-138642BA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FE501-1F14-6D33-8876-FACBCA44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25F84-55F5-179D-95E0-8D4BE921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8B06CE-0D1F-A242-80E2-BDACFA4EBC5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90823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ED1C2-3E50-4F35-550A-826F52F5F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63000" y="273050"/>
            <a:ext cx="2819400" cy="5964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69F58-BFE8-4034-714C-F578B25E7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273050"/>
            <a:ext cx="8310562" cy="5964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F7281-F72C-BECE-84B7-0276E9DD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B7465-F9FF-5D3D-206D-52536665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66EA8-3CF3-55EF-EE94-7B7777B9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3BA4F85-80C3-E043-B87B-2EFBD4E860E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1442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BEC4-7A4D-CCF4-A18A-871D759A2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81F6C-251D-2CC2-1F38-77A7A502B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898EB-0F0F-09DF-89FF-6706E33C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E6ECD-18C0-180A-063D-64347E46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43184-13C0-6114-8A0E-5385E8BD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F98242-49D9-4347-8BE9-E00F49F51A1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067099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A70C-DA0D-BD04-4221-8CBBEF8E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2EB8-F32F-5C44-7069-823068E73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029A4-B859-87A0-43F6-E8EDA6BB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FB1FE-5C55-5077-1205-E2DF1313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7AA50-1022-31EC-8151-059EC7D5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C0B2D6-DA32-1247-BBC7-EE7F1A6FBDE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3382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B9C6-E55F-DC36-D775-11B0E9FD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56F98-D9D8-7A07-F771-099CF0ABC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F2D72-6AAE-B7FE-AAC1-1C032D77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A5BF-9ABE-A45C-9290-5C339EC6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BB99F-B10D-3BC9-F555-C59CA9B5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6182EBC-BBD2-934F-A48B-C77C63697AF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91327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24C2-F999-7A8B-FF1A-473DE4CA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701B4-6EB1-DF20-F7F5-E18581346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268413"/>
            <a:ext cx="5719762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A4184-2EFD-C7B7-3E6D-77F20E4F2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413"/>
            <a:ext cx="5719763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E593E-E8A3-DA27-5735-BA88DB59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78E93-B3FC-A045-C20B-A47E68C7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4FB99-F58A-A2FC-0F04-D00CF427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9D5D827-5D37-0E4A-9271-8253A03C626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38238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0DE2-8B0B-CDF5-56C9-496628C3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52E82-B532-341E-C7CF-6C6D7A3B5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DE1FF-F769-494F-8665-024A09269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8E592-5383-C27D-4237-BA4FB3EE9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BD1E7-D137-F8DB-B6C5-33EE08CBC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37ACA-BACE-84A5-5302-8DA80F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D8D8C3-CBDA-EF7A-7ED9-98E859E5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F67F4-8EF4-B76E-17ED-BF42D78D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0ACE3C-F69E-6C46-9BD1-036C03722CD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3153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4D41-4954-FDB7-72EA-5DE4AE9C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0974C-8E94-BA3B-CE3B-2848AA1B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183A1-DFAF-F8E7-BB18-42A07200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1E36E-F3F6-C421-C875-2206910B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B6E42EC-324A-4D49-A1C8-6ADC981BD91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7518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4C78A-C117-9307-1C37-D4F8DDAC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4D12A-420A-6863-77E1-B437B001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B94A4-5392-9EA0-00CA-9300A529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B8C334A-5FCE-8C4D-8C9E-2CA8FC2E7EC6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2367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170B-49C6-C64E-40B1-BDCBFC515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F4F3-5604-B7F1-C1E1-803164954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C384F-8A29-6CEC-1A89-1F678C7BC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B52E4-71CD-02C5-818D-FC72AFCA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10B05-EAEE-852F-9640-855CF0C1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9D09-10CC-0648-4549-6C7DB080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D819E1-50E4-2341-9BE5-DAB909EA350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5049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AFAD-D68D-37F9-35CA-B38417D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E71C-6F41-B5D8-F21F-D0E00DBE4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12EF2-1384-E25B-7B33-322D01D44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C1D96-22BF-A111-C64A-23969F48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B2BE4-91A3-03A0-EA88-BCAE4048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D6B02-D555-9E29-7A13-6118E185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D8355B-5253-494D-9B9F-05E2CA85EB62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03513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9E61-29A9-7351-DF99-EA692CFD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A79FF-9BD7-C151-1AA1-8C07A07EA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701B-E4D1-ED79-EEE4-0673DB3AE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17C30-B7E5-CE41-846F-2E04EA26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105D4-CD7B-4FB1-1410-FB35BA43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C14271-811E-6C44-9FA3-32FC8991182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145128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B85D2-C9AB-7799-08C2-EDD355AC7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4775" y="273050"/>
            <a:ext cx="2897188" cy="5964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65A40-B7D0-BF9E-1965-3883027DE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273050"/>
            <a:ext cx="8542337" cy="5964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38627-20CC-DE05-B2E0-C9392C97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67DDF-1BCF-AC9A-8D0B-55D5715B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B28A2-08AC-6761-CC47-43080C5E1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41EE36-7838-0247-85C9-CAF77238A2CA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4547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A2DB-2A5D-3E78-D31A-F5EEEAC5A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EA2C8-BB3E-4400-0EDA-AA9F62A4C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6456623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7371-3211-0F22-AA25-FCCF7489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A7E9-89BB-94DE-7D6C-519120AA9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660900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58D2-5E18-E27C-E297-A563D341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7C442-9D69-42CA-0357-DBF8194A2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573227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9778-33FD-84D7-72C2-86ED47FB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63BE-C119-4F97-71B2-42767A3C6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F73F9-E15F-F69B-279D-828E56723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60198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56839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8141-860F-52E3-2F46-2682663D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86081-AD6A-0075-ABFF-F707E8C81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7A6EC-C3D8-5B18-7835-E6D56897A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E9493-E4D8-F6D6-4117-813CFB478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03B77-A5BB-5DFD-72EE-67C90DFAE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348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3B1F-4037-6E06-B134-682E994A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809338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09012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510A-7F32-C6AB-A257-B05A6566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684DD-C7EA-F52B-4D20-F782B79FB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48BB0-8673-98D9-5B43-767CDB36E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39151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50AF-8E15-FD1F-6EE9-F4729FBC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63BC2-91A2-F621-1F58-C3E14FABF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7991D-EF4C-F49C-C75B-5BC03937F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498403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9736-6536-0CC3-E39D-84E590738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F04CE-CECA-7120-E992-B53C5FF49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38660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3F4B2D-342C-9CC5-B424-B488E0ABF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685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9DF0B-DFD5-FF1E-6E9B-70184C57D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91600" cy="685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58810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08D2-E468-D0B6-B9A5-2AD12C6BB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3D446-AA30-4D4D-C683-B35241916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21763-3106-61AC-6087-5DBF3CFD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F5071-B2ED-BA62-4852-8C2DEEAC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F03B-72AD-5086-D204-3B30C864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FC6FAE1-2BE8-E940-86EF-FF8C0F8F983D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37790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4247-E608-7A87-3FAD-9552BAB2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0BA47-7223-0BDE-6018-B0E5790F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61681-E761-DF3B-8DCC-A1522D83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788B5-AE58-9860-9A42-68824A18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927F4-DFED-8127-1A74-62AB80E6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3D4917-1C85-2346-8534-B0C9F54FF29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60524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6051-928E-CF83-F411-08DC2950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0F853-27EA-1C17-091C-B99F54F2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6E53A-02D7-694C-2FE2-CFEA9D06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CEA98-6D29-1A99-CEEA-FBF8E941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007C9-4960-7CEC-0BF4-411CD183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9329E6-65B7-8449-BE6C-0DB9050B11C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24713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4A21-B1E1-1E22-22BE-AA535330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2AE23-80C9-C7CC-4852-BF1996E3C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3608388"/>
            <a:ext cx="1074737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ADCBD-EE70-DEE7-544E-BAD18F418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7175" y="3608388"/>
            <a:ext cx="1076325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CA9D-9C06-9222-AE57-7C93C560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9C547-195C-BE10-E5AB-F85357444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7CCAB-80E2-B856-929F-B5DD6629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0D0602-6530-C048-A356-8CF41BCFDBD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28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9155-C7AD-7C33-2E92-E5C8CF57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660F5-3541-4230-9FF7-1A32510DB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2746F-5218-E567-44E4-F7C9D744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84094-2705-E36D-147E-E881ED7F7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80F7B-A568-204E-8A81-F0CD291E9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249CE-7889-6967-F52E-C9FA952E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9B08A-9467-ABEB-E1BC-69F196F0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6AECC-23FD-9D7A-C0B8-7AA00294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B0B260-AEE5-1845-BB7A-AC400FFBCC92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43470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149B-A2E1-D494-4671-FF479D71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AC032-F783-DE55-E674-53A82CB0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50E70-FDB9-B4B5-9CDB-271D424A4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D53F2-66A3-AB5B-E90C-6E9F4476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CC0811-A83A-BF47-909D-255CFACDE5E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39804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0A368-CE5E-4E96-FF5A-5F1DC103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3CDDE-B75B-92DE-0DB1-14AE3EF9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94DE8-D652-F6CF-D0DE-E126C1CB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C9A430-02DD-8846-B661-D73B38FD582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30019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6CEF-4A8A-AF90-429F-183C8563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F2505-0FF2-6980-F362-6BEBD8BE0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A599B-A4B2-BD55-0D9C-40BEBF08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B4663-1C9C-2689-3E0A-F73766389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75736-0D89-D2CC-C153-3F608A81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90F71-D4E3-A72A-BB9F-6DE4A79E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3CE23B-F9A8-534F-AEC2-7F1186FE014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80130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577F-1656-DC9E-6553-25D243E8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79EBD-58C4-7FDF-ACA0-B25BC4AFC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3C41E-9F12-9777-363B-D55C25BC1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8473A-E827-B488-DBB3-57DC098B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DBA3E-F902-7D62-26CA-7F59C1CB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A10B0-A2F2-AA68-2A11-3C9614E46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131217-5C71-CC4A-BC6D-F806AC482F3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09177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899D-B4B5-479F-E190-174DE1CE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F1D86-3D28-791B-9A75-4737EAFA1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38DD5-9A95-5896-26DC-9298A9C7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47FFC-0D98-F436-4B2D-70EC931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0C203-1AF7-F3A1-D0E7-5DA67079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1BD7E6-2A0E-4C4C-BA6E-A56D79CD84A1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869932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5FD33-1330-EB02-25C4-70F964E95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63000" y="273050"/>
            <a:ext cx="2819400" cy="5964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8272B-F2F7-D015-C653-89607B9A3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273050"/>
            <a:ext cx="8310562" cy="5964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36F3A-CC79-313E-8B55-B5C03360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022D-A6DE-22C3-E479-7E395630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7343F-5E7B-5962-8A93-2D92CC90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4E8BDA-C486-104D-8902-FAFA5822AE39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15011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494C-519D-4AEA-33DC-C7A79719D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B65A82-302B-2547-75B1-15122466E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3948F-91A2-44BD-D9AE-CE8BC5AD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68116-EECA-759B-8F5B-FDF974DC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09549-245A-86E8-2733-ADBB6979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057D2E-F167-3144-9492-D3FEC87B1CBD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99358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28A4-6D56-B89B-5997-E0036FAB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4A3D2-453E-2288-CA67-BE32BC40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40A07-C904-9C08-7AFE-1C310614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AA763-A414-5C85-FD09-5B7B189E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2D833-D0DE-402A-AE0C-519B0ACE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151686-9AE1-5240-BC28-48FBD23A72F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36893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C7ED-AA38-2CB2-BB53-D7434F1A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A1CCB-A793-153B-EB1A-CCF7CECBE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76BCD-6DEF-B87D-E4D6-C21BD573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45262-E14A-2205-AC60-9B7713FA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FD249-F7EB-3178-4E8D-9136C944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B76466-B0AF-BA40-A00A-3861B562F28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96110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46BB-4287-9234-1FB3-CD31B27D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6A6E-B104-2089-E960-F2AF83E75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4963"/>
            <a:ext cx="54102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2A1BA-179F-EF2A-56F9-A6EC4602F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4963"/>
            <a:ext cx="5410200" cy="3976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A549D-8151-6B53-6B5C-E38EC48F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5C22D-9A64-99C9-6F92-9333D688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87095-5F2E-B906-C184-ABCD7703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A68482-9ACB-104E-883C-7E55D4C4663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9903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257-DF55-C066-8EC5-4A85580E3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4B77E-B79A-5857-3133-402E2EEF2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C088C-67A7-3E56-B9C4-CE31BD01C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7393D-CB8C-D4C4-CCE1-0BCA2569F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AD190-5201-4C3B-E80D-5E3BAA430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D7297-6B92-BF7A-E517-E152CF0F7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AAA9C-4EE0-3268-07C4-AB02C604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977E4-5C90-6F13-C985-42C68B1A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F968AAA-6DE2-AC40-979F-3E1944AA3E1A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6624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AD08-7BFD-1656-27E5-0D379E0B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6EA82-698E-07EE-8F17-0EE8F03F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62485-818E-6033-CA28-160EA149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23AB0-4BD0-FD82-F883-DF0319AD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CB527C-5E85-EE44-8311-E2986FDA68E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68550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C336A-D31F-47E2-B170-44A42E55A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C9536-D9E9-AA79-5F2A-6E1CEEC4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337BB-A41E-202C-918B-671067F7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E51E0A-D5A7-9541-9A08-47F58BC5A5A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61907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C206-4FC5-9125-B3BC-B302C353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BBB60-CFAB-5FD3-B476-39C3CD20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216A0-D3D7-8FA6-1F16-7D5EB82AB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874A4-9B06-DC11-A467-46A0E2FD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ECCFE-7BE4-3FEE-00FF-FBF68855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2337-DF75-2A05-69E0-452FDEB0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1D60297-7BBF-0545-BC50-C92343C4333A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61523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AD05-34F9-00FC-E609-5E3AB1674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F5488-9C07-4D68-6401-4AE0B3CE9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68C29-0009-D318-6C63-7A7B11497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C8EB9-338C-FA74-21F5-5F2AE08E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544AC-5398-F4B6-5C9F-B51D1E38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1FA92-E90A-6E51-AECC-892C6045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F5F097-055D-4046-835B-80C812ACD1F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53636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4064-7C94-89C0-DA7D-DD2FB166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7C2B9-E083-412C-6DF7-57C6F2866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D0A8B-6B42-053D-52AB-6B1ECC4F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60B5A-CC91-EA67-3173-838BABCA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EB0B4-CA31-7478-990E-211C2386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5C25C2C-4779-DA4C-A68E-B524B2FE63F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246810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A82FC2-E2AE-CAC9-858A-941F6FC18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3050"/>
            <a:ext cx="2743200" cy="530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C2E19-7B32-C4EE-D085-C120B6E68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3050"/>
            <a:ext cx="8077200" cy="530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986E4-D6F9-94AC-DE02-2E930663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0BA0-C3AB-12C4-E8F3-F308CF20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B9553-54D3-3CA7-0581-44254642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205E74-FAD1-D545-AAAD-81023029869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650121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9635-89E6-AD42-BF51-6C776825C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F4F87-1756-08AC-7207-F1E81C17D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8058576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EB85-2BAE-2F52-8E32-3E3B8124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A2CC0-AB31-A852-8EED-3CB28EF7C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9794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F3B2-3CD0-4D63-BCA8-5EA7F0AA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F4674-F735-A542-800C-FE81621E5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347875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22E8-B965-A03A-7F57-87509AFB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E14B9-A08B-C73C-A1F5-C3C0A0F4A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4178-805F-99D6-47D8-BFA16699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084900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8CF9-5D41-23BC-9708-299A3409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A0720-7CE2-2D9B-1CE2-97655BED7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CC710-7E46-963B-E11B-835C45101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0E6E3-5B16-3F28-12F1-8F9E3D03C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017F7-D501-BB00-53B2-3535E10B5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7720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62A0-8C8D-4A1F-30F0-980DF584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727043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20725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2ADE-5818-1AE7-17B7-053A8957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BFAB-7AC1-828A-52D1-5AA9C8A6F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7945A-9D7E-900D-8EC9-911B742A9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45265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0439-A20C-BC98-F9DC-F43B5BC0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86445-C2F8-BE7F-3A61-5E0A3C4D6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BF9BB-5190-B279-D644-0CA49E0A5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226143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A1FD-7B01-8FFB-40E3-3306323C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4A587-F156-2035-6AEF-E5EB0B9E8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203899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CE1B7-66B6-7D97-BD2B-84F1B2C20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4775" y="1306513"/>
            <a:ext cx="2897188" cy="48704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F1CA7-F8C1-B048-F38E-E53806B6A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0038" y="1306513"/>
            <a:ext cx="8542337" cy="48704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313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gi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FE92604B-746D-FD8F-D989-CE56CAED6691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1B16806A-9FA6-1D3B-2AB1-AF34A77199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268280"/>
            <a:ext cx="5975640" cy="3656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Bildplatzhalter 9">
            <a:extLst>
              <a:ext uri="{FF2B5EF4-FFF2-40B4-BE49-F238E27FC236}">
                <a16:creationId xmlns:a16="http://schemas.microsoft.com/office/drawing/2014/main" id="{183BC19C-87C7-A53D-66A4-D30257BEE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75400" y="1268280"/>
            <a:ext cx="5316120" cy="52927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6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9FD98CD5-6723-824A-3DA6-56BF6DA914BF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3BC5B59A-2CD8-52F0-5E3F-0AC9F31B3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306440"/>
            <a:ext cx="5975640" cy="3641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Bildplatzhalter 9">
            <a:extLst>
              <a:ext uri="{FF2B5EF4-FFF2-40B4-BE49-F238E27FC236}">
                <a16:creationId xmlns:a16="http://schemas.microsoft.com/office/drawing/2014/main" id="{D95285AE-794A-D878-3328-C1B7C2D18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75400" y="1268280"/>
            <a:ext cx="5316120" cy="52927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55D3AFC3-ED84-C111-8932-D711178CD3A6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78E0E01F-0ABA-9433-2F9A-3FC0869FE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324800"/>
            <a:ext cx="11591640" cy="688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Titel</a:t>
            </a: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295CFB33-9134-A06E-56BB-B499BD6B597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2191E2D9-4C11-0495-5B17-3BE50C11D28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941C1F8E-3DBA-BFF4-BA87-64A2CC35717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5E3649F1-8007-3C4F-9E41-8551133C41EA}" type="slidenum"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A25EC3F-221E-D5C8-6C5E-1F2EEF092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2241720"/>
            <a:ext cx="11591640" cy="39952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marL="0" marR="0" lvl="0" indent="0" algn="l" rtl="0" hangingPunct="1">
        <a:lnSpc>
          <a:spcPct val="150000"/>
        </a:lnSpc>
        <a:spcBef>
          <a:spcPts val="0"/>
        </a:spcBef>
        <a:spcAft>
          <a:spcPts val="0"/>
        </a:spcAft>
        <a:buSzPts val="1287"/>
        <a:buBlip>
          <a:blip r:embed="rId14"/>
        </a:buBlip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  <a:lvl2pPr marL="0" marR="0" lvl="1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C3F4FE0A-EA40-CE93-1D47-711D6B96AAE6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B2195425-19AD-EC17-BE78-9822F9EE7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324800"/>
            <a:ext cx="5975640" cy="688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Titel</a:t>
            </a: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65ED2EDE-62F7-52AF-54FB-9595CE771F2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C03A9F0B-DA6D-385B-E634-145CFD20169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362A6600-2A13-3D6C-F69A-D78629E96C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139E510E-CD13-D94A-BACA-FC76365914AE}" type="slidenum"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330194-5888-DF09-41D3-3FFF6F40A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2241720"/>
            <a:ext cx="5975640" cy="39952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49A15C2D-538D-A14D-2A8D-9C06D7E9774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575400" y="1268280"/>
            <a:ext cx="5316120" cy="4968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0" marR="0" lvl="1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F0AC942D-148A-5D4F-5EC9-01F99254A06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573CD6C7-7940-941D-F77C-F5258E6F6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324800"/>
            <a:ext cx="3659399" cy="688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Titel</a:t>
            </a: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364FC11E-9345-8F62-79B3-272A2FD64B6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651F928C-19A6-025B-985B-E25AC37B798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1E9EB3E3-1F23-06BA-AD8B-FDC87967F0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8BEA071C-C00E-C147-B416-8FA6082B7CE5}" type="slidenum"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C4CB740-5180-664B-C30E-45F0347C3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2241720"/>
            <a:ext cx="3659399" cy="39952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BFF14FD2-D0EE-64F6-CCC8-8E12CDE6EE9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4259880" y="1268280"/>
            <a:ext cx="7631640" cy="4968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0" marR="0" lvl="1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C477BF45-282F-E639-9A5F-5FA56D965032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1E7E0E9E-0D73-6078-133D-7AE462EFF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324800"/>
            <a:ext cx="3156120" cy="688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Titel</a:t>
            </a:r>
          </a:p>
        </p:txBody>
      </p:sp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F0EEA3D6-DD5B-E159-0457-4F4F1FF8067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3038C798-9F53-25B9-A43A-F36F92D6EAD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1826F6FA-3B26-7743-A78F-1919EFE7830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5321A528-ACEC-5C4F-B736-09C1BAF154F0}" type="slidenum"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B6BF414-451B-A5E1-D7B2-4873838D6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2241720"/>
            <a:ext cx="3156120" cy="39952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7B01533A-4B97-5531-2E80-0C3421D6B1F7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7968240" y="1268280"/>
            <a:ext cx="3923280" cy="4968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D1439CAA-04F8-EC2B-3574-3E7CEF1FD391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3756600" y="1268280"/>
            <a:ext cx="3923280" cy="4968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0" marR="0" lvl="1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5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C5C76EA5-E5BB-4712-3A0A-E4E5B669192A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43A8E9-4E19-713C-E11C-7A2ECF303F6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525F64-FCEC-CDBB-D357-6280F48F31B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4CCC37-EF07-550B-DD6E-B22EB7FB5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802C4F4D-4A43-A846-889D-534CF4AAA85A}" type="slidenum">
              <a:t>‹#›</a:t>
            </a:fld>
            <a:endParaRPr lang="de-DE"/>
          </a:p>
        </p:txBody>
      </p:sp>
      <p:sp>
        <p:nvSpPr>
          <p:cNvPr id="6" name="Bildplatzhalter 9">
            <a:extLst>
              <a:ext uri="{FF2B5EF4-FFF2-40B4-BE49-F238E27FC236}">
                <a16:creationId xmlns:a16="http://schemas.microsoft.com/office/drawing/2014/main" id="{A1B5DED1-2F9D-3E4A-55F1-0A0546B78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1268280"/>
            <a:ext cx="7379640" cy="4968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F20B8EE4-DE6B-D4E0-E538-BF233D225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hangingPunct="1">
        <a:lnSpc>
          <a:spcPct val="100000"/>
        </a:lnSpc>
        <a:tabLst/>
        <a:defRPr lang="de-DE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08E411DE-595B-2481-BB27-CCBBCBB76E21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CA27D9-5EB1-DBF5-1B23-ADD83A2FFA0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3CBA6B-1DF5-2F4C-5EDC-111DD3314C3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C3B987-A859-9D13-4571-0CD7692293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1352E007-0A4A-FB43-BD78-41FF31C25F62}" type="slidenum">
              <a:t>‹#›</a:t>
            </a:fld>
            <a:endParaRPr lang="de-DE"/>
          </a:p>
        </p:txBody>
      </p:sp>
      <p:sp>
        <p:nvSpPr>
          <p:cNvPr id="6" name="Bildplatzhalter 9">
            <a:extLst>
              <a:ext uri="{FF2B5EF4-FFF2-40B4-BE49-F238E27FC236}">
                <a16:creationId xmlns:a16="http://schemas.microsoft.com/office/drawing/2014/main" id="{8FD02D6F-315A-EAFC-B578-2CEE4CB24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1268280"/>
            <a:ext cx="11591640" cy="4968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8E556AA-0CEA-3385-9686-5F839DA42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hangingPunct="1">
        <a:lnSpc>
          <a:spcPct val="100000"/>
        </a:lnSpc>
        <a:tabLst/>
        <a:defRPr lang="de-DE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C6E7EAC3-5AB7-AEAD-2AB1-9D6344BCF783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Bildplatzhalter 9">
            <a:extLst>
              <a:ext uri="{FF2B5EF4-FFF2-40B4-BE49-F238E27FC236}">
                <a16:creationId xmlns:a16="http://schemas.microsoft.com/office/drawing/2014/main" id="{6ACEE462-C43F-731C-D3CA-B87468639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822D5770-BBE9-5C7E-5047-D56B21E0C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hangingPunct="1">
        <a:lnSpc>
          <a:spcPct val="100000"/>
        </a:lnSpc>
        <a:tabLst/>
        <a:defRPr lang="de-DE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9E287205-B5BF-2337-A484-392C72E2E906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957B7D-B704-100A-5C97-F1CBC3CAC65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C35466-2C02-E573-1A21-8E9248B57E1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96D7B5-4F5B-60A0-8B46-1F85C663D9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9539E62F-C0EC-FF42-A0DF-3F60CD6A3A3A}" type="slidenum">
              <a:t>‹#›</a:t>
            </a:fld>
            <a:endParaRPr lang="de-DE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D3F5F460-B2CB-536A-A0B4-D1B712F1D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9880" y="3609000"/>
            <a:ext cx="2303280" cy="26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Bildplatzhalter 9">
            <a:extLst>
              <a:ext uri="{FF2B5EF4-FFF2-40B4-BE49-F238E27FC236}">
                <a16:creationId xmlns:a16="http://schemas.microsoft.com/office/drawing/2014/main" id="{B6474249-627C-0DCC-D368-8C600C001168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99880" y="1268280"/>
            <a:ext cx="2303280" cy="2232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7325F6B-5893-4685-0D54-CCF0A70419BD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928240" y="3609000"/>
            <a:ext cx="2303280" cy="26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0634528D-2271-9B3B-2695-C7F9A975C219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2928240" y="1268280"/>
            <a:ext cx="2303280" cy="2232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61DD765C-285F-23AF-DC1E-A5582C1CE9A2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556600" y="3609000"/>
            <a:ext cx="2303280" cy="26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9F63C2EA-DF5C-3CC7-01B8-F5C9662E3C84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5556600" y="1268280"/>
            <a:ext cx="2303280" cy="2232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3D4722D1-8AB9-D2ED-B288-E3CE3EE71C9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184960" y="3609000"/>
            <a:ext cx="2303280" cy="262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Bildplatzhalter 9">
            <a:extLst>
              <a:ext uri="{FF2B5EF4-FFF2-40B4-BE49-F238E27FC236}">
                <a16:creationId xmlns:a16="http://schemas.microsoft.com/office/drawing/2014/main" id="{FC3D85DC-416C-FA2B-CDFC-4917E18097B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8184960" y="1268280"/>
            <a:ext cx="2303280" cy="2232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endParaRPr lang="de-DE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C328B1AA-04BC-6A94-206B-987CA1D72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hangingPunct="1">
        <a:lnSpc>
          <a:spcPct val="100000"/>
        </a:lnSpc>
        <a:tabLst/>
        <a:defRPr lang="de-DE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0" marR="0" lvl="1" indent="0" algn="l" rtl="0" hangingPunct="1">
        <a:lnSpc>
          <a:spcPct val="15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itchFamily="34"/>
        <a:buChar char="•"/>
        <a:tabLst/>
        <a:defRPr lang="de-DE" sz="9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2pPr>
      <a:lvl3pPr marL="0" marR="0" lvl="2" indent="0" algn="l" rtl="0" hangingPunct="1">
        <a:lnSpc>
          <a:spcPct val="15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itchFamily="34"/>
        <a:buChar char="•"/>
        <a:tabLst/>
        <a:defRPr lang="de-DE" sz="9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3pPr>
      <a:lvl4pPr marL="0" marR="0" lvl="3" indent="0" algn="l" rtl="0" hangingPunct="1">
        <a:lnSpc>
          <a:spcPct val="15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itchFamily="34"/>
        <a:buChar char="•"/>
        <a:tabLst/>
        <a:defRPr lang="de-DE" sz="9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4pPr>
      <a:lvl5pPr marL="0" marR="0" lvl="4" indent="0" algn="l" rtl="0" hangingPunct="1">
        <a:lnSpc>
          <a:spcPct val="15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itchFamily="34"/>
        <a:buChar char="•"/>
        <a:tabLst/>
        <a:defRPr lang="de-DE" sz="9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5E3C847E-8026-392C-83B5-C6C68848F9E8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atumsplatzhalter 1">
            <a:extLst>
              <a:ext uri="{FF2B5EF4-FFF2-40B4-BE49-F238E27FC236}">
                <a16:creationId xmlns:a16="http://schemas.microsoft.com/office/drawing/2014/main" id="{26C3B0F7-2BB7-B3AB-FD8E-A6C37F95E29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0680480" y="6471000"/>
            <a:ext cx="77976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Name des Kapitels (optional)</a:t>
            </a:r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826C93B7-52F3-5D51-17A0-49E1350937D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9880" y="6471000"/>
            <a:ext cx="1030824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r>
              <a:rPr lang="de-DE"/>
              <a:t>Titel der Präsentation (Eingabe über "Einfügen &gt; Kopf- und Fußzeile")</a:t>
            </a:r>
          </a:p>
        </p:txBody>
      </p:sp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DAF50B53-DF38-708E-F35F-A4BFCFF26DD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000000"/>
                </a:solidFill>
                <a:latin typeface="Arial"/>
                <a:ea typeface="DejaVu Sans" pitchFamily="2"/>
                <a:cs typeface="DejaVu Sans" pitchFamily="2"/>
              </a:defRPr>
            </a:lvl1pPr>
          </a:lstStyle>
          <a:p>
            <a:pPr lvl="0"/>
            <a:fld id="{A283FCCE-9D17-314D-A325-FAFD2B7A5CE0}" type="slidenum">
              <a:t>‹#›</a:t>
            </a:fld>
            <a:endParaRPr lang="de-DE"/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63395363-332C-48A1-FCF6-8F5C945BBA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9D9F7B-C04F-93F0-0380-7909C5C78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hangingPunct="1">
        <a:lnSpc>
          <a:spcPct val="100000"/>
        </a:lnSpc>
        <a:tabLst/>
        <a:defRPr lang="de-DE" sz="18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</p:titleStyle>
    <p:bodyStyle>
      <a:lvl1pPr algn="l" rtl="0" hangingPunct="1">
        <a:lnSpc>
          <a:spcPct val="150000"/>
        </a:lnSpc>
        <a:spcBef>
          <a:spcPts val="1417"/>
        </a:spcBef>
        <a:spcAft>
          <a:spcPts val="0"/>
        </a:spcAft>
        <a:tabLst/>
        <a:defRPr lang="de-DE" sz="20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2CBE015C-CF72-5E18-FC69-F9E1E7024BFF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259200" y="126359"/>
            <a:ext cx="1866240" cy="107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C2A28966-116F-8A36-6162-3BDDA2106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880" y="1306440"/>
            <a:ext cx="11592720" cy="1690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lvl="0" algn="l" rtl="0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000" b="1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Noto Sans CJK SC" pitchFamily="2"/>
          <a:cs typeface="Lohit Devanagari" pitchFamily="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A3823-A0D6-D7B3-1FD7-AEABAC3F58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0180" y="1525976"/>
            <a:ext cx="11591640" cy="355666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3465A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Federated Learning Meets Knowledge Graphs: 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0" i="1" dirty="0">
                <a:latin typeface="Arial" panose="020B0604020202020204" pitchFamily="34" charset="0"/>
                <a:cs typeface="Arial" panose="020B0604020202020204" pitchFamily="34" charset="0"/>
              </a:rPr>
              <a:t>Challenges and Opportunities for Distributed Health AI</a:t>
            </a:r>
            <a:br>
              <a:rPr lang="en-US" sz="3600" b="0" dirty="0"/>
            </a:br>
            <a:br>
              <a:rPr lang="en-US" sz="2400" b="0" dirty="0"/>
            </a:br>
            <a:r>
              <a:rPr lang="en-US" sz="1200" b="0" dirty="0"/>
              <a:t> </a:t>
            </a:r>
            <a:br>
              <a:rPr lang="en-US" sz="3600" b="0" dirty="0"/>
            </a:br>
            <a:r>
              <a:rPr lang="en-US" sz="2000" b="0" dirty="0"/>
              <a:t>1</a:t>
            </a:r>
            <a:r>
              <a:rPr lang="en-US" sz="2000" b="0" baseline="30000" dirty="0"/>
              <a:t>st</a:t>
            </a:r>
            <a:r>
              <a:rPr lang="en-US" sz="2000" b="0" dirty="0"/>
              <a:t> International Workshop on Knowledge Graphs for Health</a:t>
            </a:r>
            <a:br>
              <a:rPr lang="en-US" sz="2000" b="0" dirty="0"/>
            </a:br>
            <a:r>
              <a:rPr lang="en-US" sz="2000" b="0" dirty="0"/>
              <a:t>AIME 2026</a:t>
            </a:r>
            <a:br>
              <a:rPr lang="en-US" sz="2000" b="0" dirty="0"/>
            </a:br>
            <a:r>
              <a:rPr lang="en-US" sz="2000" b="0" dirty="0"/>
              <a:t>July 10, 2026</a:t>
            </a:r>
            <a:endParaRPr lang="en-US" sz="3200" b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ABCC7C-FC89-0F9A-8810-610027DD263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99880" y="5208480"/>
            <a:ext cx="5974920" cy="1396080"/>
          </a:xfrm>
        </p:spPr>
        <p:txBody>
          <a:bodyPr wrap="square" anchor="b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500" dirty="0">
                <a:latin typeface="Arial" pitchFamily="18"/>
              </a:rPr>
              <a:t>Dr. Christoph Düsing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500" dirty="0">
                <a:latin typeface="Arial" pitchFamily="18"/>
              </a:rPr>
              <a:t>Semantic Computing Group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500" dirty="0">
                <a:latin typeface="Arial" pitchFamily="18"/>
              </a:rPr>
              <a:t>CITEC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1500" dirty="0">
                <a:latin typeface="Arial" pitchFamily="18"/>
              </a:rPr>
              <a:t>Bielefeld University, 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5E55-6EC1-C7FB-DC91-557D61C3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E5869DB5-2E01-2A53-4059-B06AA6CB27E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pPr lvl="0"/>
            <a:r>
              <a:rPr lang="en-US" sz="3200" dirty="0">
                <a:solidFill>
                  <a:srgbClr val="3465A4"/>
                </a:solidFill>
              </a:rPr>
              <a:t>Motivation [1]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3EB4F96F-4408-1BAB-586E-242F35FE73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2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D77628A5-C0CB-E4D6-E285-A538E3EF2B36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812CBBE1-3572-A769-48CB-C65F7A40B6DD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3" name="Textplatzhalter 2_14">
            <a:extLst>
              <a:ext uri="{FF2B5EF4-FFF2-40B4-BE49-F238E27FC236}">
                <a16:creationId xmlns:a16="http://schemas.microsoft.com/office/drawing/2014/main" id="{BB7CD726-7CAD-1EB7-B399-44EB1181E7DE}"/>
              </a:ext>
            </a:extLst>
          </p:cNvPr>
          <p:cNvSpPr txBox="1">
            <a:spLocks/>
          </p:cNvSpPr>
          <p:nvPr/>
        </p:nvSpPr>
        <p:spPr>
          <a:xfrm>
            <a:off x="299880" y="1222560"/>
            <a:ext cx="1792871" cy="5231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Problem</a:t>
            </a: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Key question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18BD6934-748C-9691-53C3-C617EF8902F8}"/>
              </a:ext>
            </a:extLst>
          </p:cNvPr>
          <p:cNvSpPr txBox="1">
            <a:spLocks/>
          </p:cNvSpPr>
          <p:nvPr/>
        </p:nvSpPr>
        <p:spPr>
          <a:xfrm>
            <a:off x="1938065" y="1222201"/>
            <a:ext cx="5207330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Knowledge is spread across hospitals, biobanks, and public biomedical resources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Each institution may hold only a partial view of the clinical knowledge space.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Sensitivity of knowledge might make centralization unfeasible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i="1" dirty="0"/>
              <a:t>“How can we learn from distributed health knowledge without requiring all data and graph structures to be centralized?”</a:t>
            </a:r>
            <a:endParaRPr lang="en-US" i="1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A6218D-0E62-936D-5416-AFD5414F2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986" y="1818112"/>
            <a:ext cx="5019014" cy="322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3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BC52-2FC2-BF5B-F865-68F084A8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9D375945-DACE-0873-F913-E11A20B563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pPr lvl="0"/>
            <a:r>
              <a:rPr lang="en-US" sz="3200" dirty="0">
                <a:solidFill>
                  <a:srgbClr val="3465A4"/>
                </a:solidFill>
              </a:rPr>
              <a:t>Federated Learning (FL)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A62BBD5A-4F5E-8E8E-2CEB-27654EB9A9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3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C33409CF-C856-A473-A282-3FCCC4E09C65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797B77AE-98A8-1D27-E852-6DCCD1D5B6A2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CE1A97-840E-E7A5-5408-16176457B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800" y="1005840"/>
            <a:ext cx="7162398" cy="51530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5A753C-E6C5-12F2-0951-F93589A2A138}"/>
              </a:ext>
            </a:extLst>
          </p:cNvPr>
          <p:cNvSpPr/>
          <p:nvPr/>
        </p:nvSpPr>
        <p:spPr>
          <a:xfrm>
            <a:off x="3221665" y="1584251"/>
            <a:ext cx="2094614" cy="79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115EE1-91CD-E232-21FE-449AE6D62A4D}"/>
              </a:ext>
            </a:extLst>
          </p:cNvPr>
          <p:cNvSpPr/>
          <p:nvPr/>
        </p:nvSpPr>
        <p:spPr>
          <a:xfrm>
            <a:off x="2363878" y="2805932"/>
            <a:ext cx="2094614" cy="79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1BBE3-F678-973A-7680-0F15FB2D9DEE}"/>
              </a:ext>
            </a:extLst>
          </p:cNvPr>
          <p:cNvSpPr/>
          <p:nvPr/>
        </p:nvSpPr>
        <p:spPr>
          <a:xfrm>
            <a:off x="8456428" y="5116845"/>
            <a:ext cx="2094614" cy="79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B281B-254D-33C0-E584-5CBEC2631DC2}"/>
              </a:ext>
            </a:extLst>
          </p:cNvPr>
          <p:cNvSpPr/>
          <p:nvPr/>
        </p:nvSpPr>
        <p:spPr>
          <a:xfrm>
            <a:off x="7084828" y="2784947"/>
            <a:ext cx="2094614" cy="797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86CB8A-7479-2BDE-50AF-3AC49FC205C3}"/>
              </a:ext>
            </a:extLst>
          </p:cNvPr>
          <p:cNvSpPr/>
          <p:nvPr/>
        </p:nvSpPr>
        <p:spPr>
          <a:xfrm>
            <a:off x="6506044" y="1009763"/>
            <a:ext cx="2255184" cy="1054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63AEE-13D5-A154-32BE-CE297DF3A8D3}"/>
              </a:ext>
            </a:extLst>
          </p:cNvPr>
          <p:cNvSpPr/>
          <p:nvPr/>
        </p:nvSpPr>
        <p:spPr>
          <a:xfrm>
            <a:off x="6817536" y="2063882"/>
            <a:ext cx="2094614" cy="556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0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352D0-96A6-2FAC-89E3-2A0A04F70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3D057AFF-94DA-BF49-E68B-78C1A1B580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5999" y="182880"/>
            <a:ext cx="9246599" cy="822960"/>
          </a:xfrm>
        </p:spPr>
        <p:txBody>
          <a:bodyPr anchor="ctr"/>
          <a:lstStyle/>
          <a:p>
            <a:pPr lvl="0"/>
            <a:r>
              <a:rPr lang="en-US" sz="3200" dirty="0">
                <a:solidFill>
                  <a:srgbClr val="3465A4"/>
                </a:solidFill>
              </a:rPr>
              <a:t>From Federated Data to Federated Knowledge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2C6E6D48-68A1-DDC2-842E-F068A1E8044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4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B02F0200-3E6B-13B3-8E7B-B54D357AE2D0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B2B7B3F9-4B71-2398-362C-F486B045CE99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F89761-E025-D068-63F0-F0446958E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743241"/>
              </p:ext>
            </p:extLst>
          </p:nvPr>
        </p:nvGraphicFramePr>
        <p:xfrm>
          <a:off x="479940" y="1671455"/>
          <a:ext cx="11232118" cy="35150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0760">
                  <a:extLst>
                    <a:ext uri="{9D8B030D-6E8A-4147-A177-3AD203B41FA5}">
                      <a16:colId xmlns:a16="http://schemas.microsoft.com/office/drawing/2014/main" val="2670337858"/>
                    </a:ext>
                  </a:extLst>
                </a:gridCol>
                <a:gridCol w="8921358">
                  <a:extLst>
                    <a:ext uri="{9D8B030D-6E8A-4147-A177-3AD203B41FA5}">
                      <a16:colId xmlns:a16="http://schemas.microsoft.com/office/drawing/2014/main" val="2757834386"/>
                    </a:ext>
                  </a:extLst>
                </a:gridCol>
              </a:tblGrid>
              <a:tr h="1137649">
                <a:tc>
                  <a:txBody>
                    <a:bodyPr/>
                    <a:lstStyle/>
                    <a:p>
                      <a:r>
                        <a:rPr lang="en-US" dirty="0"/>
                        <a:t>Classical FL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Each client holds a local dataset</a:t>
                      </a:r>
                    </a:p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Clients train a shared model on structurally similar data</a:t>
                      </a:r>
                    </a:p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The server aggregates model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099504"/>
                  </a:ext>
                </a:extLst>
              </a:tr>
              <a:tr h="1137649">
                <a:tc>
                  <a:txBody>
                    <a:bodyPr/>
                    <a:lstStyle/>
                    <a:p>
                      <a:r>
                        <a:rPr lang="en-US" dirty="0"/>
                        <a:t>KG-based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Each client may hold a local graph</a:t>
                      </a:r>
                    </a:p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Nodes, edges, relation types, and schemas may differ across clients</a:t>
                      </a:r>
                    </a:p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The goal may be to learn embeddings, mappings, rules, or graph-based models without exchanging the full graph.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080398"/>
                  </a:ext>
                </a:extLst>
              </a:tr>
              <a:tr h="1137649">
                <a:tc>
                  <a:txBody>
                    <a:bodyPr/>
                    <a:lstStyle/>
                    <a:p>
                      <a:r>
                        <a:rPr lang="en-US" dirty="0"/>
                        <a:t>What changes?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The distributed object is no longer only a dataset, but a knowledge representation</a:t>
                      </a:r>
                    </a:p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Heterogeneity is not only statistical, but also semantic and structural.</a:t>
                      </a:r>
                    </a:p>
                    <a:p>
                      <a:pPr marL="285750" indent="-285750">
                        <a:buFont typeface="Wingdings" pitchFamily="2" charset="2"/>
                        <a:buChar char="v"/>
                      </a:pPr>
                      <a:r>
                        <a:rPr lang="en-US" dirty="0"/>
                        <a:t>Alignment between entities, relations, and ontologies becomes part of the learning problem.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853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29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B639-A7A3-4FE7-373D-419D2620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E3A2091B-4FE3-5274-A956-4B442038C2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52600" y="1344168"/>
            <a:ext cx="8686800" cy="4169664"/>
          </a:xfrm>
        </p:spPr>
        <p:txBody>
          <a:bodyPr anchor="ctr"/>
          <a:lstStyle/>
          <a:p>
            <a:pPr lvl="0" algn="ctr"/>
            <a:r>
              <a:rPr lang="en-US" sz="4800" dirty="0">
                <a:solidFill>
                  <a:srgbClr val="3465A4"/>
                </a:solidFill>
              </a:rPr>
              <a:t>Opportunities</a:t>
            </a:r>
            <a:endParaRPr lang="en-US" sz="36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7EE0633C-88D4-AA24-01F8-24F5736F50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5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571693C1-907D-F6A0-9F37-79F1D9A7FE2D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3" name="Fußzeilenplatzhalter 4_11">
            <a:extLst>
              <a:ext uri="{FF2B5EF4-FFF2-40B4-BE49-F238E27FC236}">
                <a16:creationId xmlns:a16="http://schemas.microsoft.com/office/drawing/2014/main" id="{852B6E4E-12A9-CF5F-BA5D-6E810021056F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</p:spTree>
    <p:extLst>
      <p:ext uri="{BB962C8B-B14F-4D97-AF65-F5344CB8AC3E}">
        <p14:creationId xmlns:p14="http://schemas.microsoft.com/office/powerpoint/2010/main" val="235888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7353-3B6F-858A-74F1-7BDF5E1E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1DB6A586-02D9-18DF-84F5-690E56901F2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Opportunity 1: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Federated Knowledge Graph Embedding [1]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7F429857-B804-1B46-901F-CEAD3CDA57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6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D788566D-8743-9019-1B3A-CD9EAFA42AC3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6EC9749E-BD64-6E3E-D567-D3060ED81184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3" name="Textplatzhalter 2_14">
            <a:extLst>
              <a:ext uri="{FF2B5EF4-FFF2-40B4-BE49-F238E27FC236}">
                <a16:creationId xmlns:a16="http://schemas.microsoft.com/office/drawing/2014/main" id="{5EAA6CCE-652F-173F-419F-8743C7BAB8AD}"/>
              </a:ext>
            </a:extLst>
          </p:cNvPr>
          <p:cNvSpPr txBox="1">
            <a:spLocks/>
          </p:cNvSpPr>
          <p:nvPr/>
        </p:nvSpPr>
        <p:spPr>
          <a:xfrm>
            <a:off x="299880" y="1222560"/>
            <a:ext cx="1792871" cy="5231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Idea</a:t>
            </a: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Approach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Applications</a:t>
            </a: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E0A132D3-256B-8E06-5E33-47736871AC05}"/>
              </a:ext>
            </a:extLst>
          </p:cNvPr>
          <p:cNvSpPr txBox="1">
            <a:spLocks/>
          </p:cNvSpPr>
          <p:nvPr/>
        </p:nvSpPr>
        <p:spPr>
          <a:xfrm>
            <a:off x="1938065" y="1222201"/>
            <a:ext cx="9759130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Instead of collecting all triples in one central KG, each institution keeps its local graph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A shared embedding model is trained collaboratively across clients.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Learn useful entity and relation representations without exchanging raw triples.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sz="1000" i="1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Local clients train a KG embedding model on their own triples.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Clients share model updates, embedding updates, or selected representation parameters.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The server aggregates updates to improve a global representation space.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sz="1000" i="1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Federated knowledge graph completion.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Link prediction across distributed graph fragments.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Learning from complementary institutional knowledge without central graph pooling.</a:t>
            </a:r>
            <a:endParaRPr lang="en-US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880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7145-CDEF-23E5-F238-C1D423DC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3B656383-D8E6-53E1-0DB7-8DBB02D6F9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Opportunity 1: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Federated Knowledge Graph Embedding [1]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F12BC8EC-D16C-2F8A-F95C-DE5410916C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7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2E1BF17F-A973-354E-50EF-BE5E45A864AE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EF89C065-5B77-79F3-143F-9C16DC4B9AEA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E53919-3E73-74E3-323D-4CC87F308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595" y="1315284"/>
            <a:ext cx="9164810" cy="477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9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9F2D-38FD-E07D-A749-48D5F96F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8F0C9D54-52C4-4609-DD8E-D5B2D137F6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Opportunity 2: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Federated Graph Neural Networks (GNNs) [2]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2406BFC9-E98B-DBA2-FEE5-8E996DF028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8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4291AE7B-AFAA-4F9B-F664-064BC4E7515C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4B591CBC-44FF-E0E3-2CFE-D58BB2708151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3" name="Textplatzhalter 2_14">
            <a:extLst>
              <a:ext uri="{FF2B5EF4-FFF2-40B4-BE49-F238E27FC236}">
                <a16:creationId xmlns:a16="http://schemas.microsoft.com/office/drawing/2014/main" id="{6C8D733C-FA04-82DA-D231-338675B210EC}"/>
              </a:ext>
            </a:extLst>
          </p:cNvPr>
          <p:cNvSpPr txBox="1">
            <a:spLocks/>
          </p:cNvSpPr>
          <p:nvPr/>
        </p:nvSpPr>
        <p:spPr>
          <a:xfrm>
            <a:off x="299880" y="1222560"/>
            <a:ext cx="1792871" cy="5231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Idea</a:t>
            </a: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Approach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Applications</a:t>
            </a: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4F498666-7A1D-769C-3516-BDF00F37A705}"/>
              </a:ext>
            </a:extLst>
          </p:cNvPr>
          <p:cNvSpPr txBox="1">
            <a:spLocks/>
          </p:cNvSpPr>
          <p:nvPr/>
        </p:nvSpPr>
        <p:spPr>
          <a:xfrm>
            <a:off x="1938065" y="1222201"/>
            <a:ext cx="9953454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Many biomedical problems are graph-structured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Instead of flattening these structures, GNNs can learn form nodes, edges and topology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FL allows multiple institutions to train graph-based models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i="1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Each client trains a local GNN (e.g., GCN) on graph structure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Much like in FL, clients only exchange model parameters (weights or gradients)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i="1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Disease classification from local omics and clinical data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Disease module discovery across institutions</a:t>
            </a:r>
          </a:p>
        </p:txBody>
      </p:sp>
    </p:spTree>
    <p:extLst>
      <p:ext uri="{BB962C8B-B14F-4D97-AF65-F5344CB8AC3E}">
        <p14:creationId xmlns:p14="http://schemas.microsoft.com/office/powerpoint/2010/main" val="165390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67AB-0746-F5E1-80B2-D64E3ABD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D132FDBC-9ABE-1EF1-CE02-4B93DBAABD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Opportunity 2: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Federated Graph Neural Networks (GNNs) [2]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DE4EC65E-B08E-1886-0CD0-8A41F000C7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9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36E79AB2-DCBD-E4F1-39A7-ABCB066FCF2E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1AFE1BEE-F85A-2995-2753-B6365D285DFD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DD0638-CAFF-6474-E522-CA7D761FA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457" y="1146507"/>
            <a:ext cx="5953084" cy="532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4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14D8-F3F1-E2ED-47B8-391587C4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6CF494DE-6D97-7ED9-AE67-1D6ED430CE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Opportunity 3: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Semantic Harmonization for Federated Learning [2]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E5D5CC6E-D874-0CF4-E518-3785AA4172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10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7C5D67AC-5290-AB47-3149-5528EEC93079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A17B78E4-776E-D731-7F2F-D610019573F9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3" name="Textplatzhalter 2_14">
            <a:extLst>
              <a:ext uri="{FF2B5EF4-FFF2-40B4-BE49-F238E27FC236}">
                <a16:creationId xmlns:a16="http://schemas.microsoft.com/office/drawing/2014/main" id="{6738026E-BF5B-7822-F7D9-4642EBCE7563}"/>
              </a:ext>
            </a:extLst>
          </p:cNvPr>
          <p:cNvSpPr txBox="1">
            <a:spLocks/>
          </p:cNvSpPr>
          <p:nvPr/>
        </p:nvSpPr>
        <p:spPr>
          <a:xfrm>
            <a:off x="299880" y="1222560"/>
            <a:ext cx="1792871" cy="5231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Idea</a:t>
            </a: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Approach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B23844DE-0A70-14A2-58D7-D5D030373382}"/>
              </a:ext>
            </a:extLst>
          </p:cNvPr>
          <p:cNvSpPr txBox="1">
            <a:spLocks/>
          </p:cNvSpPr>
          <p:nvPr/>
        </p:nvSpPr>
        <p:spPr>
          <a:xfrm>
            <a:off x="1938065" y="1222201"/>
            <a:ext cx="9953454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FL assumes that clients share the same feature space and label definitions.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Sites may use different coding systems, terminologies, and measurement practices.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KGs and ontologies can provide a shared semantic layer for aligning local data representations before or during FL.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sz="1000" i="1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Each client maps local variables and concepts to a shared semantic reference model.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The shared layer may include ontologies, concept hierarchies, and mappings.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Clients may exchange semantic mappings, feature correspondences, ontology-aligned metadata, or model updates over harmonized features.</a:t>
            </a:r>
          </a:p>
        </p:txBody>
      </p:sp>
    </p:spTree>
    <p:extLst>
      <p:ext uri="{BB962C8B-B14F-4D97-AF65-F5344CB8AC3E}">
        <p14:creationId xmlns:p14="http://schemas.microsoft.com/office/powerpoint/2010/main" val="19276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1A59-B40E-CA68-144F-D193E012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FC276D6D-E979-ED65-9DAE-5B37C12BC5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Opportunity 3: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Semantic Harmonization for Federated Learning [2]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1D8A0182-3E29-2850-F680-84ED7C58BCC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11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FD4F81DF-2B73-F855-63D7-B54DBDBBCA22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FAD3D8B8-DED0-8AC6-3021-1EE457641653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3" name="Textplatzhalter 2_14">
            <a:extLst>
              <a:ext uri="{FF2B5EF4-FFF2-40B4-BE49-F238E27FC236}">
                <a16:creationId xmlns:a16="http://schemas.microsoft.com/office/drawing/2014/main" id="{70977DBB-7663-C2ED-CB2F-2F28CC45EC50}"/>
              </a:ext>
            </a:extLst>
          </p:cNvPr>
          <p:cNvSpPr txBox="1">
            <a:spLocks/>
          </p:cNvSpPr>
          <p:nvPr/>
        </p:nvSpPr>
        <p:spPr>
          <a:xfrm>
            <a:off x="299880" y="1222560"/>
            <a:ext cx="1792871" cy="5231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Example</a:t>
            </a: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Solution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sz="1000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F7B370DB-AE47-09FE-1426-89D4ED61C28A}"/>
              </a:ext>
            </a:extLst>
          </p:cNvPr>
          <p:cNvSpPr txBox="1">
            <a:spLocks/>
          </p:cNvSpPr>
          <p:nvPr/>
        </p:nvSpPr>
        <p:spPr>
          <a:xfrm>
            <a:off x="1938065" y="1222201"/>
            <a:ext cx="9953454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Site A: “HbA1c”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Site B: “Glycated hemoglobin”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Site C: “LOINC 4548-4” 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=&gt; </a:t>
            </a:r>
            <a:r>
              <a:rPr lang="en-US" i="1" dirty="0"/>
              <a:t>All referring to the same clinical concept, but different specificity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i="1" dirty="0"/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A shared KG/ontology layer can map these to a common concept while preserving local data ownership.</a:t>
            </a:r>
          </a:p>
        </p:txBody>
      </p:sp>
    </p:spTree>
    <p:extLst>
      <p:ext uri="{BB962C8B-B14F-4D97-AF65-F5344CB8AC3E}">
        <p14:creationId xmlns:p14="http://schemas.microsoft.com/office/powerpoint/2010/main" val="269183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B1C1-9E12-1E92-6538-F888B3334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3AE6C581-C25E-C3C6-729E-20873A1837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52600" y="1344168"/>
            <a:ext cx="8686800" cy="4169664"/>
          </a:xfrm>
        </p:spPr>
        <p:txBody>
          <a:bodyPr anchor="ctr"/>
          <a:lstStyle/>
          <a:p>
            <a:pPr lvl="0" algn="ctr"/>
            <a:r>
              <a:rPr lang="en-US" sz="4800">
                <a:solidFill>
                  <a:srgbClr val="3465A4"/>
                </a:solidFill>
              </a:rPr>
              <a:t>Challenges</a:t>
            </a:r>
            <a:endParaRPr lang="en-US" sz="36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3A2C8BB3-88FC-68C2-282A-C96C293C0A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12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A3EADE95-16C8-2732-19F3-DE1001A8277D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3" name="Fußzeilenplatzhalter 4_11">
            <a:extLst>
              <a:ext uri="{FF2B5EF4-FFF2-40B4-BE49-F238E27FC236}">
                <a16:creationId xmlns:a16="http://schemas.microsoft.com/office/drawing/2014/main" id="{75EEA571-38C4-7178-8512-6D3DC4F9C4DE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</p:spTree>
    <p:extLst>
      <p:ext uri="{BB962C8B-B14F-4D97-AF65-F5344CB8AC3E}">
        <p14:creationId xmlns:p14="http://schemas.microsoft.com/office/powerpoint/2010/main" val="2624304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B423-030E-D647-3C4B-470F0928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EF054622-1E34-B35F-FCDD-BBA8359C1A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Challenge 1: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Statistical Heterogeneity Becomes Graph Heterogeneity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FE558C99-246E-6C05-4118-0A8045CC28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13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F5F99E84-1043-2891-9A52-BE4EFA6BE3B2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31167E71-6809-1702-28D3-AE907E6BABA0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18E42D00-9F80-817A-4587-E21030A97763}"/>
              </a:ext>
            </a:extLst>
          </p:cNvPr>
          <p:cNvSpPr txBox="1">
            <a:spLocks/>
          </p:cNvSpPr>
          <p:nvPr/>
        </p:nvSpPr>
        <p:spPr>
          <a:xfrm>
            <a:off x="1216434" y="1293907"/>
            <a:ext cx="9759130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In classical FL, data imbalance is a major concern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In KG settings, heterogeneity is even richer: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Different entities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Different relations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Different schemas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Different graph densities 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Different ontology depth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Different missingness patterns</a:t>
            </a: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=&gt; </a:t>
            </a:r>
            <a:r>
              <a:rPr lang="en-US" i="1" dirty="0">
                <a:latin typeface="+mn-lt"/>
              </a:rPr>
              <a:t>In federated KGs, clients may not just have different data distributions; they may represent the world differently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194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5895-1870-B9F3-1257-2D3D8F3D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E047CFD7-84F4-B506-39EC-6299F0112E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Challenge 2: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What is Actually Shared?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6631600E-48E4-B6A8-4617-B4A1625C78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14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2AB3241B-0D04-5AC1-3078-1081A6E7CAC6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E945D9C0-1E5B-AAE9-DA0D-0FAD5A44E6DF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1FA6B605-210A-67FC-FD6B-3F495A5D1532}"/>
              </a:ext>
            </a:extLst>
          </p:cNvPr>
          <p:cNvSpPr txBox="1">
            <a:spLocks/>
          </p:cNvSpPr>
          <p:nvPr/>
        </p:nvSpPr>
        <p:spPr>
          <a:xfrm>
            <a:off x="1216434" y="1293907"/>
            <a:ext cx="9759130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In Fl, the exchanges object is often clear: model parameters or gradients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In KG settings, this is less obvious. Possible exchange objects are: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GNN parameters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Node embeddings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Ontology mappings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Graph summaries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Constraints or rules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i="1" dirty="0">
                <a:latin typeface="+mn-lt"/>
              </a:rPr>
              <a:t>=&gt; What is the “model update” when the underlying object is a knowledge graph?</a:t>
            </a:r>
          </a:p>
        </p:txBody>
      </p:sp>
    </p:spTree>
    <p:extLst>
      <p:ext uri="{BB962C8B-B14F-4D97-AF65-F5344CB8AC3E}">
        <p14:creationId xmlns:p14="http://schemas.microsoft.com/office/powerpoint/2010/main" val="244896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A85C-7247-98CC-D83D-1C1CD5E9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4F08CA62-F53A-1AF0-BCE7-ACFCE60EECF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r>
              <a:rPr lang="en-US" sz="3200" dirty="0">
                <a:solidFill>
                  <a:srgbClr val="3465A4"/>
                </a:solidFill>
              </a:rPr>
              <a:t>Challenge 3: </a:t>
            </a:r>
            <a:br>
              <a:rPr lang="en-US" sz="3200" dirty="0">
                <a:solidFill>
                  <a:srgbClr val="3465A4"/>
                </a:solidFill>
              </a:rPr>
            </a:br>
            <a:r>
              <a:rPr lang="en-US" sz="2400" b="0" dirty="0">
                <a:solidFill>
                  <a:srgbClr val="3465A4"/>
                </a:solidFill>
              </a:rPr>
              <a:t>Privacy Leakage from Graph Structure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6D49C8EA-A913-ABCF-6EE8-A0C0A1C57F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15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3490E8B4-8ECF-46D5-B3CD-5001F0300BD6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DF9A9F44-EFB8-9913-B637-356D2EBED208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6F151093-4ECD-EFAF-21CA-FC76BB39CB5D}"/>
              </a:ext>
            </a:extLst>
          </p:cNvPr>
          <p:cNvSpPr txBox="1">
            <a:spLocks/>
          </p:cNvSpPr>
          <p:nvPr/>
        </p:nvSpPr>
        <p:spPr>
          <a:xfrm>
            <a:off x="1216434" y="1293907"/>
            <a:ext cx="9759130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Even if raw patient data is not shared, graph representations may leak information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Potential leakage sources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Rare entities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Unique neighborhoods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Sensitive edges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Embeddings that encode identifiable relations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Membership inference</a:t>
            </a:r>
          </a:p>
          <a:p>
            <a:pPr marL="858838" lvl="5" indent="-490538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/>
              <a:t>Reconstruction attacks</a:t>
            </a: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i="1" dirty="0">
                <a:latin typeface="+mn-lt"/>
              </a:rPr>
              <a:t>=&gt; Keeping the graph local does not automatically make the system private</a:t>
            </a:r>
          </a:p>
        </p:txBody>
      </p:sp>
    </p:spTree>
    <p:extLst>
      <p:ext uri="{BB962C8B-B14F-4D97-AF65-F5344CB8AC3E}">
        <p14:creationId xmlns:p14="http://schemas.microsoft.com/office/powerpoint/2010/main" val="138189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1899-5A51-672D-8113-BC01A366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4">
            <a:extLst>
              <a:ext uri="{FF2B5EF4-FFF2-40B4-BE49-F238E27FC236}">
                <a16:creationId xmlns:a16="http://schemas.microsoft.com/office/drawing/2014/main" id="{1C7E7585-557F-4CF9-C8B3-0621EA16D6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182880"/>
            <a:ext cx="8686800" cy="822960"/>
          </a:xfrm>
        </p:spPr>
        <p:txBody>
          <a:bodyPr anchor="ctr"/>
          <a:lstStyle/>
          <a:p>
            <a:pPr lvl="0"/>
            <a:r>
              <a:rPr lang="en-US" sz="3200" dirty="0">
                <a:solidFill>
                  <a:srgbClr val="3465A4"/>
                </a:solidFill>
              </a:rPr>
              <a:t>Conclusion</a:t>
            </a:r>
            <a:endParaRPr lang="en-US" sz="2200" b="0" dirty="0">
              <a:solidFill>
                <a:srgbClr val="3465A4"/>
              </a:solidFill>
            </a:endParaRPr>
          </a:p>
        </p:txBody>
      </p:sp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E279B8F6-0236-16A8-F0AC-9410835F86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16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0EF823D5-187C-6B7E-4E34-6E0F3C3428CE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4AE1F614-0E7D-5A63-9AE4-D8BAB75389FF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3" name="Textplatzhalter 2_14">
            <a:extLst>
              <a:ext uri="{FF2B5EF4-FFF2-40B4-BE49-F238E27FC236}">
                <a16:creationId xmlns:a16="http://schemas.microsoft.com/office/drawing/2014/main" id="{D119AC38-3922-9F16-F03A-5386FDA2C3A3}"/>
              </a:ext>
            </a:extLst>
          </p:cNvPr>
          <p:cNvSpPr txBox="1">
            <a:spLocks/>
          </p:cNvSpPr>
          <p:nvPr/>
        </p:nvSpPr>
        <p:spPr>
          <a:xfrm>
            <a:off x="299880" y="1222560"/>
            <a:ext cx="1792871" cy="5231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Main message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Opportunities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>
              <a:buFontTx/>
              <a:buNone/>
              <a:tabLst>
                <a:tab pos="0" algn="l"/>
              </a:tabLst>
            </a:pPr>
            <a:r>
              <a:rPr lang="en-US" dirty="0">
                <a:latin typeface="+mn-lt"/>
              </a:rPr>
              <a:t>Challenges</a:t>
            </a:r>
          </a:p>
          <a:p>
            <a:pPr>
              <a:buFontTx/>
              <a:buNone/>
              <a:tabLst>
                <a:tab pos="0" algn="l"/>
              </a:tabLst>
            </a:pPr>
            <a:endParaRPr lang="en-US" dirty="0">
              <a:latin typeface="+mn-lt"/>
            </a:endParaRPr>
          </a:p>
        </p:txBody>
      </p:sp>
      <p:sp>
        <p:nvSpPr>
          <p:cNvPr id="7" name="Textplatzhalter 2_15">
            <a:extLst>
              <a:ext uri="{FF2B5EF4-FFF2-40B4-BE49-F238E27FC236}">
                <a16:creationId xmlns:a16="http://schemas.microsoft.com/office/drawing/2014/main" id="{5E64747F-4C13-F5CD-747C-BC6C4F181BC6}"/>
              </a:ext>
            </a:extLst>
          </p:cNvPr>
          <p:cNvSpPr txBox="1">
            <a:spLocks/>
          </p:cNvSpPr>
          <p:nvPr/>
        </p:nvSpPr>
        <p:spPr>
          <a:xfrm>
            <a:off x="2556163" y="1222201"/>
            <a:ext cx="9224159" cy="48883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87"/>
              <a:buBlip>
                <a:blip r:embed="rId3"/>
              </a:buBlip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  <a:lvl2pPr marL="0" marR="0" lvl="1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2pPr>
            <a:lvl3pPr marL="0" marR="0" lvl="2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3pPr>
            <a:lvl4pPr marL="0" marR="0" lvl="3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4pPr>
            <a:lvl5pPr marL="0" marR="0" lvl="4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de-DE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FL and KGs address complementary parts of the same problem: </a:t>
            </a:r>
            <a:br>
              <a:rPr lang="en-US" dirty="0">
                <a:latin typeface="+mn-lt"/>
              </a:rPr>
            </a:br>
            <a:r>
              <a:rPr lang="en-US" i="1" dirty="0">
                <a:latin typeface="+mn-lt"/>
              </a:rPr>
              <a:t>how to build useful health AI when data and knowledge is distributed?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Learn shared representations from distributed KGs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Train graph-based prediction models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Use KGs and ontologies as semantic infrastructure for cross-site harmonization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endParaRPr lang="en-US" dirty="0">
              <a:latin typeface="+mn-lt"/>
            </a:endParaRP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Clients may differ not only statistically, but also structurally and semantically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It is unclear what should be exchanged: parameters, embeddings, mappings, …</a:t>
            </a:r>
          </a:p>
          <a:p>
            <a:pPr marL="342900" lvl="4" indent="-342900">
              <a:buClr>
                <a:srgbClr val="3465A4"/>
              </a:buClr>
              <a:buSzPct val="100000"/>
              <a:buFont typeface="Wingdings" pitchFamily="2" charset="2"/>
              <a:buChar char="v"/>
              <a:tabLst>
                <a:tab pos="0" algn="l"/>
              </a:tabLst>
            </a:pPr>
            <a:r>
              <a:rPr lang="en-US" dirty="0">
                <a:latin typeface="+mn-lt"/>
              </a:rPr>
              <a:t>Keeping graphs local does not guarantee data privacy</a:t>
            </a:r>
          </a:p>
        </p:txBody>
      </p:sp>
    </p:spTree>
    <p:extLst>
      <p:ext uri="{BB962C8B-B14F-4D97-AF65-F5344CB8AC3E}">
        <p14:creationId xmlns:p14="http://schemas.microsoft.com/office/powerpoint/2010/main" val="118928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E863-2A27-FC13-7817-D82DC322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_4">
            <a:extLst>
              <a:ext uri="{FF2B5EF4-FFF2-40B4-BE49-F238E27FC236}">
                <a16:creationId xmlns:a16="http://schemas.microsoft.com/office/drawing/2014/main" id="{A40CCC39-7032-4F98-FB66-6FF7E8B3E9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4BE14269-5919-4346-AE59-72A2FAF11C21}" type="slidenum">
              <a:rPr/>
              <a:t>17</a:t>
            </a:fld>
            <a:endParaRPr lang="en-US" sz="9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ußzeilenplatzhalter 4_11">
            <a:extLst>
              <a:ext uri="{FF2B5EF4-FFF2-40B4-BE49-F238E27FC236}">
                <a16:creationId xmlns:a16="http://schemas.microsoft.com/office/drawing/2014/main" id="{D7406B4E-B827-B2AB-500F-67F5E701FDC9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91F1926D-FBCD-FCDE-D1EB-B19DEB7E9D3E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  <p:sp>
        <p:nvSpPr>
          <p:cNvPr id="8" name="Titel 1_0">
            <a:extLst>
              <a:ext uri="{FF2B5EF4-FFF2-40B4-BE49-F238E27FC236}">
                <a16:creationId xmlns:a16="http://schemas.microsoft.com/office/drawing/2014/main" id="{22D5A386-CC48-24C8-0A42-136FA0CDF7EC}"/>
              </a:ext>
            </a:extLst>
          </p:cNvPr>
          <p:cNvSpPr txBox="1">
            <a:spLocks/>
          </p:cNvSpPr>
          <p:nvPr/>
        </p:nvSpPr>
        <p:spPr>
          <a:xfrm>
            <a:off x="300600" y="771120"/>
            <a:ext cx="11591640" cy="1109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>
            <a:lvl1pPr lvl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4000" b="1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/>
                <a:ea typeface="Noto Sans CJK SC" pitchFamily="2"/>
                <a:cs typeface="Lohit Devanagari" pitchFamily="2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br>
              <a:rPr lang="en-US" sz="2800">
                <a:solidFill>
                  <a:srgbClr val="3465A4"/>
                </a:solidFill>
              </a:rPr>
            </a:br>
            <a:r>
              <a:rPr lang="en-US" sz="2800">
                <a:solidFill>
                  <a:srgbClr val="3465A4"/>
                </a:solidFill>
              </a:rPr>
              <a:t>Thank you for your attention!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256906B-A9BD-3BA7-A3DE-25E4E466F322}"/>
              </a:ext>
            </a:extLst>
          </p:cNvPr>
          <p:cNvSpPr/>
          <p:nvPr/>
        </p:nvSpPr>
        <p:spPr>
          <a:xfrm>
            <a:off x="4861560" y="2475720"/>
            <a:ext cx="2468880" cy="2468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6000">
            <a:solidFill>
              <a:srgbClr val="3465A4"/>
            </a:solidFill>
            <a:prstDash val="solid"/>
          </a:ln>
        </p:spPr>
        <p:txBody>
          <a:bodyPr wrap="none" lIns="108000" tIns="63000" rIns="108000" bIns="63000" anchor="ctr" anchorCtr="0" compatLnSpc="0">
            <a:noAutofit/>
          </a:bodyPr>
          <a:lstStyle/>
          <a:p>
            <a:pPr marL="0" marR="0" lvl="0" indent="0" algn="r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12" name="Untertitel 2_2">
            <a:extLst>
              <a:ext uri="{FF2B5EF4-FFF2-40B4-BE49-F238E27FC236}">
                <a16:creationId xmlns:a16="http://schemas.microsoft.com/office/drawing/2014/main" id="{9B34292F-4EE4-5F44-EA13-19A43F655E8A}"/>
              </a:ext>
            </a:extLst>
          </p:cNvPr>
          <p:cNvSpPr txBox="1"/>
          <p:nvPr/>
        </p:nvSpPr>
        <p:spPr>
          <a:xfrm>
            <a:off x="4861560" y="5137921"/>
            <a:ext cx="2468880" cy="390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endParaRPr lang="en-US" sz="1500" b="0" i="0" u="none" strike="noStrike" kern="1200" cap="none" spc="0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Arial" pitchFamily="18"/>
              <a:ea typeface="Noto Sans CJK SC" pitchFamily="2"/>
              <a:cs typeface="Lohit Devanagari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endParaRPr lang="en-US" sz="1500" b="0" i="0" u="none" strike="noStrike" kern="1200" cap="none" spc="0" baseline="0">
              <a:ln>
                <a:noFill/>
              </a:ln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Arial" pitchFamily="18"/>
              <a:ea typeface="Noto Sans CJK SC" pitchFamily="2"/>
              <a:cs typeface="Lohit Devanagari" pitchFamily="2"/>
            </a:endParaRPr>
          </a:p>
          <a:p>
            <a:pPr marL="0" marR="0" lvl="0" indent="0" algn="ctr" rtl="0" hangingPunct="1">
              <a:buNone/>
              <a:tabLst>
                <a:tab pos="0" algn="l"/>
              </a:tabLst>
            </a:pPr>
            <a:r>
              <a:rPr lang="en-US" sz="2000" b="1" i="0" u="none" strike="noStrike" kern="1200" cap="none" spc="0" baseline="0">
                <a:ln>
                  <a:noFill/>
                </a:ln>
                <a:solidFill>
                  <a:srgbClr val="3465A4"/>
                </a:solidFill>
                <a:highlight>
                  <a:scrgbClr r="0" g="0" b="0">
                    <a:alpha val="0"/>
                  </a:scrgbClr>
                </a:highlight>
                <a:latin typeface="Arial" pitchFamily="18"/>
                <a:ea typeface="Noto Sans CJK SC" pitchFamily="2"/>
                <a:cs typeface="Lohit Devanagari" pitchFamily="2"/>
              </a:rPr>
              <a:t>Christoph Düsing</a:t>
            </a:r>
            <a:br>
              <a:rPr lang="en-US" sz="1600" b="1" i="0" u="none" strike="noStrike" kern="1200" cap="none" spc="0" baseline="0">
                <a:ln>
                  <a:noFill/>
                </a:ln>
                <a:solidFill>
                  <a:srgbClr val="3465A4"/>
                </a:solidFill>
                <a:highlight>
                  <a:scrgbClr r="0" g="0" b="0">
                    <a:alpha val="0"/>
                  </a:scrgbClr>
                </a:highlight>
                <a:latin typeface="Arial" pitchFamily="18"/>
                <a:ea typeface="Noto Sans CJK SC" pitchFamily="2"/>
                <a:cs typeface="Lohit Devanagari" pitchFamily="2"/>
              </a:rPr>
            </a:br>
            <a:r>
              <a:rPr lang="en-US" sz="15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Arial" pitchFamily="18"/>
                <a:ea typeface="Noto Sans CJK SC" pitchFamily="2"/>
                <a:cs typeface="Lohit Devanagari" pitchFamily="2"/>
              </a:rPr>
              <a:t>Bielefeld University</a:t>
            </a:r>
          </a:p>
        </p:txBody>
      </p:sp>
    </p:spTree>
    <p:extLst>
      <p:ext uri="{BB962C8B-B14F-4D97-AF65-F5344CB8AC3E}">
        <p14:creationId xmlns:p14="http://schemas.microsoft.com/office/powerpoint/2010/main" val="3642004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_8">
            <a:extLst>
              <a:ext uri="{FF2B5EF4-FFF2-40B4-BE49-F238E27FC236}">
                <a16:creationId xmlns:a16="http://schemas.microsoft.com/office/drawing/2014/main" id="{0C9E2D1A-9325-151F-BFA0-969DCB4C98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86000" y="274320"/>
            <a:ext cx="8686800" cy="640080"/>
          </a:xfrm>
        </p:spPr>
        <p:txBody>
          <a:bodyPr/>
          <a:lstStyle/>
          <a:p>
            <a:pPr lvl="0"/>
            <a:r>
              <a:rPr lang="en-US" sz="3200">
                <a:solidFill>
                  <a:srgbClr val="3465A4"/>
                </a:solidFill>
              </a:rPr>
              <a:t>References</a:t>
            </a:r>
          </a:p>
        </p:txBody>
      </p:sp>
      <p:sp>
        <p:nvSpPr>
          <p:cNvPr id="3" name="Textplatzhalter 2_16">
            <a:extLst>
              <a:ext uri="{FF2B5EF4-FFF2-40B4-BE49-F238E27FC236}">
                <a16:creationId xmlns:a16="http://schemas.microsoft.com/office/drawing/2014/main" id="{8A7D4336-33B5-2573-2890-0DCDC70A250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99880" y="712440"/>
            <a:ext cx="11587320" cy="5231160"/>
          </a:xfrm>
        </p:spPr>
        <p:txBody>
          <a:bodyPr/>
          <a:lstStyle/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dirty="0"/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dirty="0"/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dirty="0"/>
              <a:t>[1] </a:t>
            </a:r>
            <a:r>
              <a:rPr lang="en-US" sz="1400" dirty="0"/>
              <a:t>Chen, M., Zhang, W., Yuan, Z., Jia, Y., &amp; Chen, H. (2021, December). Fede: Embedding knowledge graphs in federated setting. In </a:t>
            </a:r>
            <a:r>
              <a:rPr lang="en-US" sz="1400" i="1" dirty="0"/>
              <a:t>Proceedings of the 10th international joint conference on knowledge graphs</a:t>
            </a:r>
            <a:r>
              <a:rPr lang="en-US" sz="1400" dirty="0"/>
              <a:t> (pp. 80-88).</a:t>
            </a:r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/>
              <a:t>[2] Pfeifer, B., </a:t>
            </a:r>
            <a:r>
              <a:rPr lang="en-US" sz="1400" dirty="0" err="1"/>
              <a:t>Chereda</a:t>
            </a:r>
            <a:r>
              <a:rPr lang="en-US" sz="1400" dirty="0"/>
              <a:t>, H., Martin, R., </a:t>
            </a:r>
            <a:r>
              <a:rPr lang="en-US" sz="1400" dirty="0" err="1"/>
              <a:t>Saranti</a:t>
            </a:r>
            <a:r>
              <a:rPr lang="en-US" sz="1400" dirty="0"/>
              <a:t>, A., Clemens, S., Hauschild, A. C., ... &amp; Heider, D. (2023). Ensemble-GNN: federated ensemble learning with graph neural networks for disease module discovery and classification. </a:t>
            </a:r>
            <a:r>
              <a:rPr lang="en-US" sz="1400" i="1" dirty="0"/>
              <a:t>Bioinformatics</a:t>
            </a:r>
            <a:r>
              <a:rPr lang="en-US" sz="1400" dirty="0"/>
              <a:t>, </a:t>
            </a:r>
            <a:r>
              <a:rPr lang="en-US" sz="1400" i="1" dirty="0"/>
              <a:t>39</a:t>
            </a:r>
            <a:r>
              <a:rPr lang="en-US" sz="1400" dirty="0"/>
              <a:t>(11), btad703.</a:t>
            </a:r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/>
              <a:t>[3] </a:t>
            </a:r>
            <a:r>
              <a:rPr lang="en-US" sz="1400" dirty="0" err="1"/>
              <a:t>Kokash</a:t>
            </a:r>
            <a:r>
              <a:rPr lang="en-US" sz="1400" dirty="0"/>
              <a:t>, N., Wang, L., Gillespie, T. H., </a:t>
            </a:r>
            <a:r>
              <a:rPr lang="en-US" sz="1400" dirty="0" err="1"/>
              <a:t>Belloum</a:t>
            </a:r>
            <a:r>
              <a:rPr lang="en-US" sz="1400" dirty="0"/>
              <a:t>, A. S., Grosso, P., Quinney, S., ... &amp; De Bono, B. (2026). Ontology-and LLM-based data harmonization for federated learning in healthcare. </a:t>
            </a:r>
            <a:r>
              <a:rPr lang="en-US" sz="1400" i="1" dirty="0"/>
              <a:t>Frontiers in Digital Health</a:t>
            </a:r>
            <a:r>
              <a:rPr lang="en-US" sz="1400" dirty="0"/>
              <a:t>, </a:t>
            </a:r>
            <a:r>
              <a:rPr lang="en-US" sz="1400" i="1" dirty="0"/>
              <a:t>8</a:t>
            </a:r>
            <a:r>
              <a:rPr lang="en-US" sz="1400" dirty="0"/>
              <a:t>, 1756555.</a:t>
            </a:r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dirty="0"/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dirty="0"/>
          </a:p>
          <a:p>
            <a:pPr lvl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dirty="0"/>
          </a:p>
        </p:txBody>
      </p:sp>
      <p:sp>
        <p:nvSpPr>
          <p:cNvPr id="4" name="Foliennummernplatzhalter 5_8">
            <a:extLst>
              <a:ext uri="{FF2B5EF4-FFF2-40B4-BE49-F238E27FC236}">
                <a16:creationId xmlns:a16="http://schemas.microsoft.com/office/drawing/2014/main" id="{49762B58-2DC9-6610-E275-19835ACC15B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532599" y="6471000"/>
            <a:ext cx="358920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lvl="0" algn="r"/>
            <a:fld id="{242610E2-EC7A-5740-B824-FCA105CF570E}" type="slidenum">
              <a:rPr/>
              <a:t>18</a:t>
            </a:fld>
            <a:endParaRPr lang="en-US" sz="9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Fußzeilenplatzhalter 4_11">
            <a:extLst>
              <a:ext uri="{FF2B5EF4-FFF2-40B4-BE49-F238E27FC236}">
                <a16:creationId xmlns:a16="http://schemas.microsoft.com/office/drawing/2014/main" id="{4A0EF13D-21B7-E78A-CA65-334BCB11F4CE}"/>
              </a:ext>
            </a:extLst>
          </p:cNvPr>
          <p:cNvSpPr txBox="1"/>
          <p:nvPr/>
        </p:nvSpPr>
        <p:spPr>
          <a:xfrm>
            <a:off x="300481" y="6470641"/>
            <a:ext cx="1679148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Dr. Christoph Düsing</a:t>
            </a:r>
          </a:p>
        </p:txBody>
      </p:sp>
      <p:sp>
        <p:nvSpPr>
          <p:cNvPr id="7" name="Fußzeilenplatzhalter 4_11">
            <a:extLst>
              <a:ext uri="{FF2B5EF4-FFF2-40B4-BE49-F238E27FC236}">
                <a16:creationId xmlns:a16="http://schemas.microsoft.com/office/drawing/2014/main" id="{2E28DE15-C58D-0E71-6135-9527B40F5D4D}"/>
              </a:ext>
            </a:extLst>
          </p:cNvPr>
          <p:cNvSpPr txBox="1"/>
          <p:nvPr/>
        </p:nvSpPr>
        <p:spPr>
          <a:xfrm>
            <a:off x="1855315" y="6471000"/>
            <a:ext cx="8481369" cy="20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>
            <a:noAutofit/>
          </a:bodyPr>
          <a:lstStyle/>
          <a:p>
            <a:pPr marL="0" marR="0" lvl="0" indent="0" algn="ctr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1" u="none" strike="noStrike" kern="1200" cap="none" spc="0" baseline="0" dirty="0">
                <a:solidFill>
                  <a:schemeClr val="tx2">
                    <a:lumMod val="75000"/>
                    <a:lumOff val="25000"/>
                  </a:schemeClr>
                </a:solidFill>
                <a:ea typeface="DejaVu Sans" pitchFamily="2"/>
                <a:cs typeface="DejaVu Sans" pitchFamily="2"/>
              </a:rPr>
              <a:t>Federated Learning Meets Knowledge Graphs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pit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itel und Tex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itel, Text und Bild (schmal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itel, Text und Bild (breit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itel, Text und 2 Bild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Nur Bild (schmal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Nur Bild (breit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Vollbild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4 Bilder und Tex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Le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En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10679</TotalTime>
  <Words>1312</Words>
  <Application>Microsoft Macintosh PowerPoint</Application>
  <PresentationFormat>Widescreen</PresentationFormat>
  <Paragraphs>243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18</vt:i4>
      </vt:variant>
    </vt:vector>
  </HeadingPairs>
  <TitlesOfParts>
    <vt:vector size="37" baseType="lpstr">
      <vt:lpstr>Aptos</vt:lpstr>
      <vt:lpstr>Arial</vt:lpstr>
      <vt:lpstr>DejaVu Sans</vt:lpstr>
      <vt:lpstr>Liberation Sans</vt:lpstr>
      <vt:lpstr>Liberation Serif</vt:lpstr>
      <vt:lpstr>StarSymbol</vt:lpstr>
      <vt:lpstr>Wingdings</vt:lpstr>
      <vt:lpstr>Titelfolie</vt:lpstr>
      <vt:lpstr>Kapitel</vt:lpstr>
      <vt:lpstr>Titel und Text</vt:lpstr>
      <vt:lpstr>Titel, Text und Bild (schmal)</vt:lpstr>
      <vt:lpstr>Titel, Text und Bild (breit)</vt:lpstr>
      <vt:lpstr>Titel, Text und 2 Bilder</vt:lpstr>
      <vt:lpstr>Nur Bild (schmal)</vt:lpstr>
      <vt:lpstr>Nur Bild (breit)</vt:lpstr>
      <vt:lpstr>Vollbild</vt:lpstr>
      <vt:lpstr>4 Bilder und Text</vt:lpstr>
      <vt:lpstr>Leer</vt:lpstr>
      <vt:lpstr>Ende</vt:lpstr>
      <vt:lpstr>Federated Learning Meets Knowledge Graphs:  Challenges and Opportunities for Distributed Health AI    1st International Workshop on Knowledge Graphs for Health AIME 2026 July 10, 2026</vt:lpstr>
      <vt:lpstr>Motivation [1]</vt:lpstr>
      <vt:lpstr>Federated Learning (FL)</vt:lpstr>
      <vt:lpstr>From Federated Data to Federated Knowledge</vt:lpstr>
      <vt:lpstr>Opportunities</vt:lpstr>
      <vt:lpstr>Opportunity 1:  Federated Knowledge Graph Embedding [1]</vt:lpstr>
      <vt:lpstr>Opportunity 1:  Federated Knowledge Graph Embedding [1]</vt:lpstr>
      <vt:lpstr>Opportunity 2:  Federated Graph Neural Networks (GNNs) [2]</vt:lpstr>
      <vt:lpstr>Opportunity 2:  Federated Graph Neural Networks (GNNs) [2]</vt:lpstr>
      <vt:lpstr>Opportunity 3:  Semantic Harmonization for Federated Learning [2]</vt:lpstr>
      <vt:lpstr>Opportunity 3:  Semantic Harmonization for Federated Learning [2]</vt:lpstr>
      <vt:lpstr>Challenges</vt:lpstr>
      <vt:lpstr>Challenge 1:  Statistical Heterogeneity Becomes Graph Heterogeneity</vt:lpstr>
      <vt:lpstr>Challenge 2:  What is Actually Shared?</vt:lpstr>
      <vt:lpstr>Challenge 3:  Privacy Leakage from Graph Structure</vt:lpstr>
      <vt:lpstr>Conclusion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cp:lastModifiedBy>Christoph Düsing</cp:lastModifiedBy>
  <cp:revision>277</cp:revision>
  <dcterms:created xsi:type="dcterms:W3CDTF">2022-12-01T09:09:37Z</dcterms:created>
  <dcterms:modified xsi:type="dcterms:W3CDTF">2026-07-09T12:22:47Z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Company">
    <vt:lpwstr>Universität Bielefeld</vt:lpwstr>
  </property>
  <property fmtid="{D5CDD505-2E9C-101B-9397-08002B2CF9AE}" pid="4" name="HiddenSlides">
    <vt:r8>0</vt:r8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r8>0</vt:r8>
  </property>
  <property fmtid="{D5CDD505-2E9C-101B-9397-08002B2CF9AE}" pid="8" name="Notes">
    <vt:r8>0</vt:r8>
  </property>
  <property fmtid="{D5CDD505-2E9C-101B-9397-08002B2CF9AE}" pid="9" name="PresentationFormat">
    <vt:lpwstr>Breitbild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r8>14</vt:r8>
  </property>
</Properties>
</file>